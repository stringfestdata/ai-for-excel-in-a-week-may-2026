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474" r:id="rId3"/>
    <p:sldId id="426" r:id="rId4"/>
    <p:sldId id="455" r:id="rId5"/>
    <p:sldId id="471" r:id="rId6"/>
    <p:sldId id="407" r:id="rId7"/>
    <p:sldId id="472" r:id="rId8"/>
    <p:sldId id="473" r:id="rId9"/>
    <p:sldId id="415"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56"/>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 and congratulations on signing up for AI for Excel in a Week. Over the next five days we are going to build something I'm calling the Modern Excel AI Stack. It's the layer cake of tools that turns Excel from a single file on your laptop into a connected, AI-ready piece of your organization's data ecosystem.</a:t>
            </a:r>
          </a:p>
          <a:p>
            <a:r>
              <a:t>Day 1 is all about the foundation. Before we touch Copilot, before we touch Python, before we touch a single agent, we have to get honest about where our data lives and how trustworthy it is. Today is the unglamorous but critical day. Get this right and the rest of the week clicks. Skip this and you'll spend the rest of the week fighting your data.</a:t>
            </a:r>
          </a:p>
          <a:p>
            <a:r>
              <a:t>Quick housekeeping while people are joining: I'll record every session, files go in the Teams channel, and you can email me anytime at george@stringfestanalytics.com.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week at a glance. Five days, five layers of the stack.</a:t>
            </a:r>
          </a:p>
          <a:p>
            <a:r>
              <a:t>Day 1 is the foundation — connecting Excel to the cloud sources where your real data lives. Power BI semantic models for governed analytics, Dataverse for governed operational data. This is what makes everything else this week possible.</a:t>
            </a:r>
          </a:p>
          <a:p>
            <a:r>
              <a:t>Day 2 is the preparation layer. Power Query and Dataflows. We take messy, real-world data and turn it into something that's reliable, refreshable, and ready for AI to actually reason over.</a:t>
            </a:r>
          </a:p>
          <a:p>
            <a:r>
              <a:t>Day 3 is the intelligence layer. Copilot inside Excel, Python in Excel for the deeper analytical work, and Agent Mode — the big addition this year — which lets Excel plan and execute multi-step analyses on your behalf.</a:t>
            </a:r>
          </a:p>
          <a:p>
            <a:r>
              <a:t>Day 4 is the execution layer. Office Scripts and Power Automate. This is where insights stop being insights and become actions: scheduled refreshes, Teams notifications, AI-powered flows that read your data and respond.</a:t>
            </a:r>
          </a:p>
          <a:p>
            <a:r>
              <a:t>Day 5 is the orchestration layer. Copilot Studio. We build your own custom copilot and connect everything we've built earlier in the week as actions it can call.</a:t>
            </a:r>
          </a:p>
          <a:p>
            <a:r>
              <a:t>By Friday you'll have hands-on experience with every layer. You won't be an expert in all of them, but you'll know what each tool is for and how they connect. That's the real value — knowing the shape of the stack.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logistics. Everything happens in the Teams channel I sent you — recordings get posted there, demo files get posted there, and that's where you'll ask questions between sessions. Make sure you're using the same email you signed up with so you have access.</a:t>
            </a:r>
          </a:p>
          <a:p>
            <a:r>
              <a:t>I keep all the recordings and the Teams group up for at least 60 days after we wrap, so if life happens and you miss a session, you're fine. Just catch up at your own pace.</a:t>
            </a:r>
          </a:p>
          <a:p>
            <a:r>
              <a:t>Email me anytime at george@stringfestanalytics.com. I genuinely read everything — if something isn't clicking or you want a deeper dive on a topic, just say so.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picture I want you to keep in your head all week. I call it the Modern Excel AI Stack, and it's the framework I write about on the Stringfest blog — link is on the slide.</a:t>
            </a:r>
          </a:p>
          <a:p>
            <a:r>
              <a:t>There are five layers, and we're walking up them in order this week.</a:t>
            </a:r>
          </a:p>
          <a:p>
            <a:r>
              <a:t>Layer one — foundation. Where does your data live? Is it governed? Is it refreshable? That's today.</a:t>
            </a:r>
          </a:p>
          <a:p>
            <a:r>
              <a:t>Layer two — preparation. How do you clean it once and reuse the cleaning everywhere? That's tomorrow with Power Query and Dataflows.</a:t>
            </a:r>
          </a:p>
          <a:p>
            <a:r>
              <a:t>Layer three — intelligence. Once the data is clean, how do you reason over it with Copilot, Python, and Agent Mode? That's Wednesday.</a:t>
            </a:r>
          </a:p>
          <a:p>
            <a:r>
              <a:t>Layer four — execution. How do you turn insights into actions that run automatically? That's Thursday with Office Scripts and Power Automate.</a:t>
            </a:r>
          </a:p>
          <a:p>
            <a:r>
              <a:t>Layer five — orchestration. How do you wrap all of that into a custom copilot your team can actually use? That's Friday with Copilot Studio.</a:t>
            </a:r>
          </a:p>
          <a:p>
            <a:r>
              <a:t>The reason I draw it as a stack is that each layer depends on the one below. AI without clean data is theatre. Automation without governed data is risk. And custom copilots without all of the above are toys. We're building this in the right order on purpose.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Time for the first demo. The goal here is simple — I want you to see, with your own eyes, that Excel doesn't have to be the end of the data journey anymore. It can be a starting point, a destination, or a window into governed data sitting somewhere else.</a:t>
            </a:r>
          </a:p>
          <a:p>
            <a:r>
              <a:rPr dirty="0"/>
              <a:t>We're going to do three things. First, push a small data model from Excel up into Power BI. Excel can load directly into a Power BI semantic model — relationships and measures included — so you don't have to rebuild anything. Second, pull data from that same semantic model back down into Excel. This is where the lightbulb usually goes on for people. You're not importing a CSV anymore. You're connecting to a live, curated dataset that always has the latest numbers and the latest logic. No more emailing files around.</a:t>
            </a:r>
          </a:p>
          <a:p>
            <a:r>
              <a:rPr dirty="0"/>
              <a:t>Third, and this is the part I really want you to pay attention to, we connect Excel directly to a Dataverse table. Quick framing on Dataverse before we click anything: Dataverse is Microsoft's governed data layer for the Power Platform. Think of it as a shared filing cabinet for your organization, except every drawer knows who's allowed to open it, every folder knows which other folders it relates to, and every form knows what kind of data should go in it. Tables, not files. Types, relationships, permissions, and history all built in. Excel, Power BI, Power Automate, and Copilot Studio all share it.</a:t>
            </a:r>
          </a:p>
          <a:p>
            <a:r>
              <a:rPr dirty="0"/>
              <a:t>Why does that matter to an Excel user? Three reasons. One — when you pull a Dataverse table into Excel, you're pulling from a single, governed source. Everyone on your team sees the same numbers. Two — because Dataverse already knows the types and relationships, Copilot and Power Automate can reason about your data without you having to explain it every time. The structure is just there. Three — and this is the big one for Friday — the most powerful thing we can give a custom copilot in Copilot Studio is a Dataverse table to work with. It's the difference between a chatbot that hallucinates and an agent that actually knows your business.</a:t>
            </a:r>
          </a:p>
          <a:p>
            <a:r>
              <a:rPr dirty="0"/>
              <a:t>Dataverse is going to look weird the first time you see it. There are GUIDs, system columns, ownership fields. That's normal — Dataverse tables aren't files, they're enterprise objects. They track everything a real business system needs to track. We'll talk through how to clean that up in Power Query so you only see the columns you actually care about.</a:t>
            </a:r>
          </a:p>
          <a:p>
            <a:r>
              <a:rPr dirty="0"/>
              <a:t>The big takeaway: each of these connections gives you something different. Power BI semantic models give you a clean, modeled view. Dataverse gives you the full governed object. Knowing the difference is the foundation for everything we do this week.</a:t>
            </a:r>
          </a:p>
        </p:txBody>
      </p:sp>
      <p:sp>
        <p:nvSpPr>
          <p:cNvPr id="4" name="Slide Number Placeholder 3"/>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AI depends on clean, governed, trusted data</a:t>
            </a:r>
            <a:br>
              <a:rPr lang="en-US" dirty="0"/>
            </a:br>
            <a:r>
              <a:rPr lang="en-US" dirty="0"/>
              <a:t>When people think “AI,” they think prompts — but the real magic actually comes from your data foundation. Copilot can only work with what you give it. If your data is messy, inconsistent, or missing key fields, your AI results will reflect that. Garbage in, garbage out… just faster.</a:t>
            </a:r>
          </a:p>
          <a:p>
            <a:r>
              <a:rPr lang="en-US" b="1" dirty="0"/>
              <a:t>Cloud-connected Excel gives Copilot real context and structure</a:t>
            </a:r>
            <a:br>
              <a:rPr lang="en-US" dirty="0"/>
            </a:br>
            <a:r>
              <a:rPr lang="en-US" dirty="0"/>
              <a:t>When your workbook is connected to the cloud — OneDrive, SharePoint, Fabric, Dataverse — Excel actually </a:t>
            </a:r>
            <a:r>
              <a:rPr lang="en-US" i="1" dirty="0"/>
              <a:t>knows</a:t>
            </a:r>
            <a:r>
              <a:rPr lang="en-US" dirty="0"/>
              <a:t> what your tables are, how they relate, and how often they change. That gives Copilot a stable structure to work with instead of trying to interpret a bunch of disconnected spreadsheets.</a:t>
            </a:r>
          </a:p>
          <a:p>
            <a:r>
              <a:rPr lang="en-US" b="1" dirty="0"/>
              <a:t>Semantic models teach AI the meaning of your data</a:t>
            </a:r>
            <a:br>
              <a:rPr lang="en-US" dirty="0"/>
            </a:br>
            <a:r>
              <a:rPr lang="en-US" dirty="0"/>
              <a:t>A semantic model is basically the “brain” of your data: it defines your tables, your relationships, your measures, and your business logic. When you connect to a Power BI semantic model from Excel, Copilot can reason about the meaning behind your fields — not just their labels. It understands what “Revenue,” “Customer,” or “Region” actually </a:t>
            </a:r>
            <a:r>
              <a:rPr lang="en-US" i="1" dirty="0"/>
              <a:t>mean</a:t>
            </a:r>
            <a:r>
              <a:rPr lang="en-US" dirty="0"/>
              <a:t> in your organization.</a:t>
            </a:r>
          </a:p>
          <a:p>
            <a:r>
              <a:rPr lang="en-US" b="1" dirty="0"/>
              <a:t>Dataverse provides consistent tables and relationships AI can use</a:t>
            </a:r>
            <a:br>
              <a:rPr lang="en-US" dirty="0"/>
            </a:br>
            <a:r>
              <a:rPr lang="en-US" dirty="0"/>
              <a:t>Dataverse is your governed, standardized data layer. Everything has proper types, relationships, and metadata. When Excel pulls from Dataverse, Copilot works with data that’s already clean and modeled, instead of 50 different versions of the same dataset floating around in personal spreadsheets.</a:t>
            </a:r>
          </a:p>
          <a:p>
            <a:r>
              <a:rPr lang="en-US" b="1" dirty="0"/>
              <a:t>Better data foundations mean better prompts, better answers, fewer errors</a:t>
            </a:r>
            <a:br>
              <a:rPr lang="en-US" dirty="0"/>
            </a:br>
            <a:r>
              <a:rPr lang="en-US" dirty="0"/>
              <a:t>At the end of the day, strong data foundations make you look like a genius with AI. Prompts land more accurately. Copilot produces cleaner results. And you spend far less time debugging formulas or rewriting analyses. This is why Modern Excel isn’t just about AI — it’s about preparing your data so AI can actually help you.</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3005231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Day 2 preview: Data cleaning the modern way</a:t>
            </a:r>
            <a:br>
              <a:rPr lang="en-US" dirty="0"/>
            </a:br>
            <a:r>
              <a:rPr lang="en-US" dirty="0"/>
              <a:t>Tomorrow we shift from “what AI needs” to “how we actually get there.” The modern data stack starts with cleaning and shaping your raw data so everything downstream — AI, automation, reporting — actually works.</a:t>
            </a:r>
          </a:p>
          <a:p>
            <a:r>
              <a:rPr lang="en-US" b="1" dirty="0"/>
              <a:t>Build repeatable cleaning and shaping steps with Power Query</a:t>
            </a:r>
            <a:br>
              <a:rPr lang="en-US" dirty="0"/>
            </a:br>
            <a:r>
              <a:rPr lang="en-US" dirty="0"/>
              <a:t>Power Query is where you stop fixing data manually. Every transformation you apply — splitting columns, fixing data types, removing errors — is recorded as a step. So instead of rebuilding cleanup every week, you just click </a:t>
            </a:r>
            <a:r>
              <a:rPr lang="en-US" i="1" dirty="0"/>
              <a:t>Refresh</a:t>
            </a:r>
            <a:r>
              <a:rPr lang="en-US" dirty="0"/>
              <a:t>. This is where analysts start saving hours per report.</a:t>
            </a:r>
          </a:p>
          <a:p>
            <a:r>
              <a:rPr lang="en-US" b="1" dirty="0"/>
              <a:t>Publish transformations to the cloud as Dataflows</a:t>
            </a:r>
            <a:br>
              <a:rPr lang="en-US" dirty="0"/>
            </a:br>
            <a:r>
              <a:rPr lang="en-US" dirty="0"/>
              <a:t>Once your Power Query steps are working locally, you can publish them as Dataflows in the cloud. That turns your one-off cleanup into a reusable, centralized process that your whole team can use. It’s the same logic, just elevated from “my file” to “our shared data pipeline.”</a:t>
            </a:r>
          </a:p>
          <a:p>
            <a:r>
              <a:rPr lang="en-US" b="1" dirty="0"/>
              <a:t>Feed clean, certified data into Excel and Power BI</a:t>
            </a:r>
            <a:br>
              <a:rPr lang="en-US" dirty="0"/>
            </a:br>
            <a:r>
              <a:rPr lang="en-US" dirty="0"/>
              <a:t>With Dataflows, the clean data becomes a source you can pull into both Excel and Power BI — and you know everyone is pulling the same, consistent version. No more email attachments and no more “which file is the right one?”</a:t>
            </a:r>
          </a:p>
          <a:p>
            <a:r>
              <a:rPr lang="en-US" b="1" dirty="0"/>
              <a:t>Set the stage for reliable AI, automation, and reporting</a:t>
            </a:r>
            <a:br>
              <a:rPr lang="en-US" dirty="0"/>
            </a:br>
            <a:r>
              <a:rPr lang="en-US" dirty="0"/>
              <a:t>When your cleanup is automated and standardized, everything built on top of it becomes more reliable. Copilot works better. Office Scripts and Power Automate flows work better. And your reports stop breaking the night before the meeting. Clean data isn’t glamorous, but it’s the foundation of every good AI workflow.</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232071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hyperlink" Target="https://stringfestanalytics.com/how-to-understand-the-modern-excel-ai-stac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1: Power BI and Dataverse – The Foundation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446550"/>
          </a:xfrm>
          <a:prstGeom prst="rect">
            <a:avLst/>
          </a:prstGeom>
          <a:noFill/>
        </p:spPr>
        <p:txBody>
          <a:bodyPr wrap="square" rtlCol="0">
            <a:spAutoFit/>
          </a:bodyPr>
          <a:lstStyle/>
          <a:p>
            <a:r>
              <a:rPr lang="en-US" sz="4400" b="1" dirty="0">
                <a:solidFill>
                  <a:schemeClr val="bg1"/>
                </a:solidFill>
              </a:rPr>
              <a:t>I help Excel users move from fragile spreadsheets</a:t>
            </a:r>
          </a:p>
          <a:p>
            <a:r>
              <a:rPr lang="en-US" sz="4400" b="1" dirty="0">
                <a:solidFill>
                  <a:schemeClr val="bg1"/>
                </a:solidFill>
              </a:rPr>
              <a:t>to confident, scalable analysis.</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ais Cooke on LinkedIn: #linkedinlearninginstructor #linkedinlearning | 82  comments">
            <a:extLst>
              <a:ext uri="{FF2B5EF4-FFF2-40B4-BE49-F238E27FC236}">
                <a16:creationId xmlns:a16="http://schemas.microsoft.com/office/drawing/2014/main" id="{2E3C0D6C-F7C9-F3C4-3BAA-FF34E086E7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0" y="5312978"/>
            <a:ext cx="33337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159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Objectives for this course</a:t>
            </a:r>
          </a:p>
        </p:txBody>
      </p:sp>
      <p:sp>
        <p:nvSpPr>
          <p:cNvPr id="3" name="TextBox 2"/>
          <p:cNvSpPr txBox="1"/>
          <p:nvPr/>
        </p:nvSpPr>
        <p:spPr>
          <a:xfrm>
            <a:off x="685800" y="2628900"/>
            <a:ext cx="1623060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sz="4800" dirty="0">
                <a:solidFill>
                  <a:srgbClr val="707070"/>
                </a:solidFill>
                <a:latin typeface="Pragmatica"/>
              </a:rPr>
              <a:t>Connect Excel to Power BI and Dataverse for live, governed data</a:t>
            </a:r>
          </a:p>
          <a:p>
            <a:pPr marL="685800" indent="-685800">
              <a:buClr>
                <a:srgbClr val="CF3338"/>
              </a:buClr>
              <a:buFont typeface="Arial" panose="020B0604020202020204" pitchFamily="34" charset="0"/>
              <a:buChar char="•"/>
            </a:pPr>
            <a:r>
              <a:rPr sz="4800" dirty="0">
                <a:solidFill>
                  <a:srgbClr val="707070"/>
                </a:solidFill>
                <a:latin typeface="Pragmatica"/>
              </a:rPr>
              <a:t>Build repeatable cleaning workflows with Power Query and Dataflows</a:t>
            </a:r>
          </a:p>
          <a:p>
            <a:pPr marL="685800" indent="-685800">
              <a:buClr>
                <a:srgbClr val="CF3338"/>
              </a:buClr>
              <a:buFont typeface="Arial" panose="020B0604020202020204" pitchFamily="34" charset="0"/>
              <a:buChar char="•"/>
            </a:pPr>
            <a:r>
              <a:rPr sz="4800" dirty="0">
                <a:solidFill>
                  <a:srgbClr val="707070"/>
                </a:solidFill>
                <a:latin typeface="Pragmatica"/>
              </a:rPr>
              <a:t>Use Copilot, Python in Excel, and Agent Mode for analysis and automation</a:t>
            </a:r>
          </a:p>
          <a:p>
            <a:pPr marL="685800" indent="-685800">
              <a:buClr>
                <a:srgbClr val="CF3338"/>
              </a:buClr>
              <a:buFont typeface="Arial" panose="020B0604020202020204" pitchFamily="34" charset="0"/>
              <a:buChar char="•"/>
            </a:pPr>
            <a:r>
              <a:rPr sz="4800" dirty="0">
                <a:solidFill>
                  <a:srgbClr val="707070"/>
                </a:solidFill>
                <a:latin typeface="Pragmatica"/>
              </a:rPr>
              <a:t>Automate Excel work with Office Scripts and AI-powered Power Automate</a:t>
            </a:r>
          </a:p>
          <a:p>
            <a:pPr marL="685800" indent="-685800">
              <a:buClr>
                <a:srgbClr val="CF3338"/>
              </a:buClr>
              <a:buFont typeface="Arial" panose="020B0604020202020204" pitchFamily="34" charset="0"/>
              <a:buChar char="•"/>
            </a:pPr>
            <a:r>
              <a:rPr sz="4800" dirty="0">
                <a:solidFill>
                  <a:srgbClr val="707070"/>
                </a:solidFill>
                <a:latin typeface="Pragmatica"/>
              </a:rPr>
              <a:t>Build and deploy custom copilots in Copilot Studio for real workflows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424731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meetings will be on Teams URL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and messages will be sent to the email you used to register </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a:t>
            </a:r>
            <a:r>
              <a:rPr lang="en-US" sz="5400">
                <a:solidFill>
                  <a:srgbClr val="707070"/>
                </a:solidFill>
                <a:latin typeface="Pragmatica" panose="020B0403040502020204" pitchFamily="34" charset="0"/>
              </a:rPr>
              <a:t>me with </a:t>
            </a:r>
            <a:r>
              <a:rPr lang="en-US" sz="5400" dirty="0">
                <a:solidFill>
                  <a:srgbClr val="707070"/>
                </a:solidFill>
                <a:latin typeface="Pragmatica" panose="020B0403040502020204" pitchFamily="34" charset="0"/>
              </a:rPr>
              <a:t>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a:t>
            </a:r>
          </a:p>
        </p:txBody>
      </p:sp>
      <p:pic>
        <p:nvPicPr>
          <p:cNvPr id="3" name="Picture 2">
            <a:extLst>
              <a:ext uri="{FF2B5EF4-FFF2-40B4-BE49-F238E27FC236}">
                <a16:creationId xmlns:a16="http://schemas.microsoft.com/office/drawing/2014/main" id="{AB3D7F95-976F-51B9-7604-CC250598F0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1000" y="118407"/>
            <a:ext cx="10282893" cy="10282893"/>
          </a:xfrm>
          <a:prstGeom prst="rect">
            <a:avLst/>
          </a:prstGeom>
        </p:spPr>
      </p:pic>
    </p:spTree>
    <p:extLst>
      <p:ext uri="{BB962C8B-B14F-4D97-AF65-F5344CB8AC3E}">
        <p14:creationId xmlns:p14="http://schemas.microsoft.com/office/powerpoint/2010/main" val="2791422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5262979"/>
          </a:xfrm>
          <a:prstGeom prst="rect">
            <a:avLst/>
          </a:prstGeom>
          <a:noFill/>
        </p:spPr>
        <p:txBody>
          <a:bodyPr wrap="square" rtlCol="0">
            <a:spAutoFit/>
          </a:bodyPr>
          <a:lstStyle/>
          <a:p>
            <a:r>
              <a:rPr sz="6000" b="1" dirty="0">
                <a:solidFill>
                  <a:srgbClr val="CF3338"/>
                </a:solidFill>
                <a:latin typeface="Pragmatica"/>
              </a:rPr>
              <a:t>Demo: to Excel and back</a:t>
            </a:r>
          </a:p>
          <a:p>
            <a:r>
              <a:rPr sz="2000" b="1" dirty="0">
                <a:solidFill>
                  <a:srgbClr val="CF3338"/>
                </a:solidFill>
                <a:latin typeface="Pragmatica"/>
              </a:rPr>
              <a:t> </a:t>
            </a:r>
          </a:p>
          <a:p>
            <a:pPr marL="342900" indent="-342900">
              <a:buFont typeface="Arial" panose="020B0604020202020204" pitchFamily="34" charset="0"/>
              <a:buChar char="•"/>
            </a:pPr>
            <a:r>
              <a:rPr sz="4400" dirty="0">
                <a:solidFill>
                  <a:srgbClr val="CF3338"/>
                </a:solidFill>
                <a:latin typeface="Pragmatica"/>
              </a:rPr>
              <a:t>Excel model → Power BI semantic model</a:t>
            </a:r>
          </a:p>
          <a:p>
            <a:pPr marL="342900" indent="-342900">
              <a:buFont typeface="Arial" panose="020B0604020202020204" pitchFamily="34" charset="0"/>
              <a:buChar char="•"/>
            </a:pPr>
            <a:r>
              <a:rPr sz="4400" dirty="0">
                <a:solidFill>
                  <a:srgbClr val="CF3338"/>
                </a:solidFill>
                <a:latin typeface="Pragmatica"/>
              </a:rPr>
              <a:t>Power BI → back into Excel</a:t>
            </a:r>
          </a:p>
          <a:p>
            <a:pPr marL="342900" indent="-342900">
              <a:buFont typeface="Arial" panose="020B0604020202020204" pitchFamily="34" charset="0"/>
              <a:buChar char="•"/>
            </a:pPr>
            <a:r>
              <a:rPr sz="4400" dirty="0">
                <a:solidFill>
                  <a:srgbClr val="CF3338"/>
                </a:solidFill>
                <a:latin typeface="Pragmatica"/>
              </a:rPr>
              <a:t>Excel ↔ Dataverse (round trip)</a:t>
            </a:r>
            <a:endParaRPr lang="en-US" sz="4400" dirty="0">
              <a:solidFill>
                <a:srgbClr val="CF3338"/>
              </a:solidFill>
              <a:latin typeface="Pragmatica"/>
            </a:endParaRPr>
          </a:p>
          <a:p>
            <a:endParaRPr lang="en-US" sz="4000" dirty="0">
              <a:solidFill>
                <a:srgbClr val="CF3338"/>
              </a:solidFill>
              <a:latin typeface="Pragmatica"/>
            </a:endParaRPr>
          </a:p>
          <a:p>
            <a:r>
              <a:rPr sz="4000" dirty="0">
                <a:solidFill>
                  <a:srgbClr val="CF3338"/>
                </a:solidFill>
                <a:latin typeface="Pragmatica"/>
              </a:rPr>
              <a:t>Workbook: superstore.xlsx</a:t>
            </a:r>
          </a:p>
        </p:txBody>
      </p:sp>
    </p:spTree>
    <p:extLst>
      <p:ext uri="{BB962C8B-B14F-4D97-AF65-F5344CB8AC3E}">
        <p14:creationId xmlns:p14="http://schemas.microsoft.com/office/powerpoint/2010/main" val="387153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1" y="2095500"/>
            <a:ext cx="14393120" cy="757130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depends on clean, governed, trusted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Cloud connected Excel gives Copilot real context and structure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Semantic models teach AI the meaning of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Dataverse provides consistent tables and relationships AI can use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Better data foundations mean better prompts, better answers, fewer errors</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4642939" cy="1015663"/>
          </a:xfrm>
          <a:prstGeom prst="rect">
            <a:avLst/>
          </a:prstGeom>
          <a:noFill/>
        </p:spPr>
        <p:txBody>
          <a:bodyPr wrap="square" rtlCol="0">
            <a:spAutoFit/>
          </a:bodyPr>
          <a:lstStyle/>
          <a:p>
            <a:r>
              <a:rPr lang="en-US" sz="6000" dirty="0">
                <a:latin typeface="Aliens &amp; cows" panose="00000500000000000000" pitchFamily="2" charset="0"/>
              </a:rPr>
              <a:t>Day 2 preview: Data cleaning the modern way</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Build repeatable cleaning and shaping steps with Power Query</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Publish transformations to the cloud as Dataflows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Feed clean, certified data into Excel and Power BI</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Set the stage for reliable AI, automation, and reporting</a:t>
            </a: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3952</TotalTime>
  <Words>2239</Words>
  <Application>Microsoft Office PowerPoint</Application>
  <PresentationFormat>Custom</PresentationFormat>
  <Paragraphs>75</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Aliens &amp; cows</vt:lpstr>
      <vt:lpstr>Arial</vt:lpstr>
      <vt:lpstr>Pragmatica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238</cp:revision>
  <dcterms:created xsi:type="dcterms:W3CDTF">2006-08-16T00:00:00Z</dcterms:created>
  <dcterms:modified xsi:type="dcterms:W3CDTF">2026-04-08T17:47:49Z</dcterms:modified>
  <dc:identifier>DADurESpNu8</dc:identifier>
</cp:coreProperties>
</file>