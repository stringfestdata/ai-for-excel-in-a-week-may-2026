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475" r:id="rId3"/>
    <p:sldId id="471" r:id="rId4"/>
    <p:sldId id="476" r:id="rId18"/>
    <p:sldId id="477" r:id="rId19"/>
    <p:sldId id="478" r:id="rId20"/>
    <p:sldId id="481" r:id="rId23"/>
    <p:sldId id="484" r:id="rId26"/>
    <p:sldId id="474" r:id="rId6"/>
    <p:sldId id="473" r:id="rId7"/>
    <p:sldId id="415" r:id="rId8"/>
    <p:sldId id="470" r:id="rId9"/>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FE45DF-55D5-405D-A565-885B46CD6B1C}" v="18" dt="2025-10-20T17:24:06.950"/>
    <p1510:client id="{FF0EED0B-C5B4-4142-B053-6337C3D566F0}" v="5" dt="2025-10-20T16:58:00.7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78463" autoAdjust="0"/>
  </p:normalViewPr>
  <p:slideViewPr>
    <p:cSldViewPr>
      <p:cViewPr varScale="1">
        <p:scale>
          <a:sx n="38" d="100"/>
          <a:sy n="38" d="100"/>
        </p:scale>
        <p:origin x="485" y="35"/>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commentAuthors" Target="commentAuthors.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5/10/relationships/revisionInfo" Target="revisionInfo.xml"/><Relationship Id="rId17" Type="http://schemas.microsoft.com/office/2018/10/relationships/authors" Target="authors.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3" Type="http://schemas.openxmlformats.org/officeDocument/2006/relationships/slide" Target="slides/slide14.xml"/><Relationship Id="rId26" Type="http://schemas.openxmlformats.org/officeDocument/2006/relationships/slide" Target="slides/slide17.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Day 3. Today is about Copilot in Excel — the AI that lives inside the app. Quick context before we dive in: Advanced Analysis with Python and Agent Mode have both been rolled back into regular Copilot, so there is one pane to learn instead of three. Our job is to use it with confidence, not just convenience, so what we hand off on Friday can survive a review.</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Yesterday we fought messy data. We used Copilot to diagnose issues in Power Query, had it tidy our M code, pushed the cleaning logic into a Dataflow, and landed a governed table in Dataverse. The point: before AI can help you analyze, it needs data it can trust. Today we move one layer up — using AI inside the workbook itself.</a:t>
            </a:r>
          </a:p>
        </p:txBody>
      </p:sp>
      <p:sp>
        <p:nvSpPr>
          <p:cNvPr id="4" name="Slide Number Placeholder 3"/>
          <p:cNvSpPr>
            <a:spLocks noGrp="1"/>
          </p:cNvSpPr>
          <p:nvPr>
            <p:ph type="sldNum" sz="quarter" idx="5"/>
          </p:nvPr>
        </p:nvSpPr>
        <p:spPr/>
        <p:txBody>
          <a:bodyPr/>
          <a:lstStyle/>
          <a:p>
            <a:fld id="{FFB500C5-13F7-48FC-8160-C29AECF6C602}" type="slidenum">
              <a:rPr lang="en-US" smtClean="0"/>
              <a:t>2</a:t>
            </a:fld>
            <a:endParaRPr lang="en-US"/>
          </a:p>
        </p:txBody>
      </p:sp>
    </p:spTree>
    <p:extLst>
      <p:ext uri="{BB962C8B-B14F-4D97-AF65-F5344CB8AC3E}">
        <p14:creationId xmlns:p14="http://schemas.microsoft.com/office/powerpoint/2010/main" val="1840290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orientation. This diagram shows where Copilot fits in the modern Excel AI stack. Data comes in from the bottom, moves through cleaning and governance, then lands in the analytical layer where Copilot lives. Above that sits the automation and delivery layer we will cover in Day 4. The important thing: Copilot is one layer of the workflow, not the whole thing.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Pulling back to the big picture for a second. AI in Excel is only one layer. You still need to get data in, secure it, and move results across systems. Power Automate connects Excel logic to business processes. Dataverse keeps the data consistent enough that AI can trust it. Together these tools make Copilot reliable and scalable, not just impressive in a demo.</a:t>
            </a:r>
          </a:p>
        </p:txBody>
      </p:sp>
      <p:sp>
        <p:nvSpPr>
          <p:cNvPr id="4" name="Slide Number Placeholder 3"/>
          <p:cNvSpPr>
            <a:spLocks noGrp="1"/>
          </p:cNvSpPr>
          <p:nvPr>
            <p:ph type="sldNum" sz="quarter" idx="5"/>
          </p:nvPr>
        </p:nvSpPr>
        <p:spPr/>
        <p:txBody>
          <a:bodyPr/>
          <a:lstStyle/>
          <a:p>
            <a:fld id="{FFB500C5-13F7-48FC-8160-C29AECF6C602}" type="slidenum">
              <a:rPr lang="en-US" smtClean="0"/>
              <a:t>5</a:t>
            </a:fld>
            <a:endParaRPr lang="en-US"/>
          </a:p>
        </p:txBody>
      </p:sp>
    </p:spTree>
    <p:extLst>
      <p:ext uri="{BB962C8B-B14F-4D97-AF65-F5344CB8AC3E}">
        <p14:creationId xmlns:p14="http://schemas.microsoft.com/office/powerpoint/2010/main" val="1354516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Tomorrow we move from getting analysis done inside Excel to pushing analysis out of Excel automatically. Office Scripts automate the clicks you already take. Power Automate turns those scripts into real workflows. Flows push results to Teams, Outlook, SharePoint. Together they form the execution layer that carries your work beyond the workbook.</a:t>
            </a:r>
          </a:p>
        </p:txBody>
      </p:sp>
      <p:sp>
        <p:nvSpPr>
          <p:cNvPr id="4" name="Slide Number Placeholder 3"/>
          <p:cNvSpPr>
            <a:spLocks noGrp="1"/>
          </p:cNvSpPr>
          <p:nvPr>
            <p:ph type="sldNum" sz="quarter" idx="5"/>
          </p:nvPr>
        </p:nvSpPr>
        <p:spPr/>
        <p:txBody>
          <a:bodyPr/>
          <a:lstStyle/>
          <a:p>
            <a:fld id="{FFB500C5-13F7-48FC-8160-C29AECF6C602}" type="slidenum">
              <a:rPr lang="en-US" smtClean="0"/>
              <a:t>6</a:t>
            </a:fld>
            <a:endParaRPr lang="en-US"/>
          </a:p>
        </p:txBody>
      </p:sp>
    </p:spTree>
    <p:extLst>
      <p:ext uri="{BB962C8B-B14F-4D97-AF65-F5344CB8AC3E}">
        <p14:creationId xmlns:p14="http://schemas.microsoft.com/office/powerpoint/2010/main" val="217584689"/>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Heads-up on what has changed. Advanced Analysis with Python — the feature that let Copilot run clustering or regression directly — has been folded back into regular Copilot. Same for Agent Mode, the multi-step build-me-a-whole-model feature. So instead of three surfaces and three license tiers, you now have one Copilot pane that is broader and deeper than it used to be. The risk: it is more tempting to treat it as a black box. Our job today is to stay in the driver's seat.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Copilot in Excel is genuinely great at, that most people under-use: formatting and highlighting (conditional formats, data bars, flags), calculated columns (new fields, categories, unit conversions), PivotTables and charts (quick summaries and visuals), and formulas with explanations (write, fix, translate in plain English). If all you ever use Copilot for is these four, you will still get most of the value.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1. I will open penguins.xlsx and run the four everyday wins end-to-end. Stay in the Copilot pane the whole time. I will keep each prompt short so you can see the shape of a good instruction. Watch how Copilot handles structured data — prompts that reference column names work better than prompts that reference cell addresses. If you get lost, all the prompts I use here are in the Day 3 demo notes handout.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2. Same dataset, same prompts, two tools. We run Copilot and Claude side by side on an expense categorization task to see where each shines. The point is not to crown a winner but to build the judgment for when to use which. All prompts are in the Demo 2 Prompt Guide in folder 2-claude-vs-copilot.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3. I will open copilot-logging-demo.xlsx and run the three prompts live. I am going to actually close and reopen the file so you can see the resume prompt work from cold. Watch the CopilotLog sheet fill in as we go — that is the thing you hand to your reviewer.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it up. Good questions to seed if the room is quiet: which of the three patterns — style guide or logging — would you try first on Monday? Are there workbooks you would NOT want to use Copilot on even with the shield, and why?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for hanging in. See you tomorrow for Day 4 — Office Scripts and Power Automate.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hyperlink" Target="https://stringfestanalytics.com/how-to-understand-the-modern-excel-ai-stack/" TargetMode="External"/><Relationship Id="rId5" Type="http://schemas.openxmlformats.org/officeDocument/2006/relationships/image" Target="../media/image4.png"/></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notesSlide" Target="../notesSlides/notesSlide18.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p:cNvSpPr txBox="1"/>
          <p:nvPr/>
        </p:nvSpPr>
        <p:spPr>
          <a:xfrm>
            <a:off x="486137" y="2531318"/>
            <a:ext cx="11979797" cy="1754326"/>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AI for Excel in a Week</a:t>
            </a:r>
          </a:p>
          <a:p>
            <a:r>
              <a:rPr lang="en-US" sz="5400" b="1" dirty="0">
                <a:solidFill>
                  <a:srgbClr val="CF3338"/>
                </a:solidFill>
                <a:latin typeface="Pragmatica" panose="020B0403040502020204" pitchFamily="34" charset="0"/>
              </a:rPr>
              <a:t>Day 3: Copilot in Excel</a:t>
            </a:r>
          </a:p>
        </p:txBody>
      </p:sp>
      <p:sp>
        <p:nvSpPr>
          <p:cNvPr id="2" name="AutoShape 2" descr="Home | Full Stack Modeller">
            <a:extLst>
              <a:ext uri="{FF2B5EF4-FFF2-40B4-BE49-F238E27FC236}">
                <a16:creationId xmlns:a16="http://schemas.microsoft.com/office/drawing/2014/main" id="{6CCAA77C-4E76-640C-066C-F3E39EE1AC9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65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778E5-4EE9-9207-6FC7-3D28CF2383A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81603C7-76CD-A76B-F955-68F3329D8967}"/>
              </a:ext>
            </a:extLst>
          </p:cNvPr>
          <p:cNvSpPr txBox="1"/>
          <p:nvPr/>
        </p:nvSpPr>
        <p:spPr>
          <a:xfrm>
            <a:off x="520861" y="170082"/>
            <a:ext cx="14642939" cy="1477328"/>
          </a:xfrm>
          <a:prstGeom prst="rect">
            <a:avLst/>
          </a:prstGeom>
          <a:noFill/>
        </p:spPr>
        <p:txBody>
          <a:bodyPr wrap="square" rtlCol="0">
            <a:spAutoFit/>
          </a:bodyPr>
          <a:lstStyle/>
          <a:p>
            <a:r>
              <a:rPr lang="en-US" sz="9000">
                <a:latin typeface="Aliens &amp; cows" panose="00000500000000000000" pitchFamily="2" charset="0"/>
              </a:rPr>
              <a:t xml:space="preserve">Day 2 </a:t>
            </a:r>
            <a:r>
              <a:rPr lang="en-US" sz="9000" dirty="0">
                <a:latin typeface="Aliens &amp; cows" panose="00000500000000000000" pitchFamily="2" charset="0"/>
              </a:rPr>
              <a:t>recap</a:t>
            </a:r>
          </a:p>
        </p:txBody>
      </p:sp>
      <p:sp>
        <p:nvSpPr>
          <p:cNvPr id="3" name="TextBox 2">
            <a:extLst>
              <a:ext uri="{FF2B5EF4-FFF2-40B4-BE49-F238E27FC236}">
                <a16:creationId xmlns:a16="http://schemas.microsoft.com/office/drawing/2014/main" id="{5F84214C-EACA-355D-FAEB-44DBEAE3040B}"/>
              </a:ext>
            </a:extLst>
          </p:cNvPr>
          <p:cNvSpPr txBox="1"/>
          <p:nvPr/>
        </p:nvSpPr>
        <p:spPr>
          <a:xfrm>
            <a:off x="520861" y="2095500"/>
            <a:ext cx="14393120" cy="5909310"/>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Saw why messy data breaks AI</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Used Copilot to diagnose issues (but not fix them)</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Use Copilot to tidy our M code</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Pushed the cleaning logic into a Dataflow</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Published a clean, governed table into Dataverse</a:t>
            </a:r>
          </a:p>
        </p:txBody>
      </p:sp>
      <p:pic>
        <p:nvPicPr>
          <p:cNvPr id="15" name="Picture 14" descr="A close up of a sign  Description automatically generated">
            <a:extLst>
              <a:ext uri="{FF2B5EF4-FFF2-40B4-BE49-F238E27FC236}">
                <a16:creationId xmlns:a16="http://schemas.microsoft.com/office/drawing/2014/main" id="{6959BD9D-5738-BA78-737D-3115164D42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2133890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ACC5-4B11-2B34-2998-BB1C4FC9CC6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DA2185A-0457-8E44-DEEB-D9AF5A6DD844}"/>
              </a:ext>
            </a:extLst>
          </p:cNvPr>
          <p:cNvSpPr txBox="1"/>
          <p:nvPr/>
        </p:nvSpPr>
        <p:spPr>
          <a:xfrm>
            <a:off x="520861" y="170082"/>
            <a:ext cx="6794339" cy="3785652"/>
          </a:xfrm>
          <a:prstGeom prst="rect">
            <a:avLst/>
          </a:prstGeom>
          <a:noFill/>
        </p:spPr>
        <p:txBody>
          <a:bodyPr wrap="square" rtlCol="0">
            <a:spAutoFit/>
          </a:bodyPr>
          <a:lstStyle/>
          <a:p>
            <a:r>
              <a:rPr lang="en-US" sz="8000" dirty="0">
                <a:latin typeface="Aliens &amp; cows" panose="00000500000000000000" pitchFamily="2" charset="0"/>
              </a:rPr>
              <a:t>Welcome to the modern Excel AI stack</a:t>
            </a:r>
          </a:p>
        </p:txBody>
      </p:sp>
      <p:pic>
        <p:nvPicPr>
          <p:cNvPr id="15" name="Picture 14" descr="A close up of a sign  Description automatically generated">
            <a:extLst>
              <a:ext uri="{FF2B5EF4-FFF2-40B4-BE49-F238E27FC236}">
                <a16:creationId xmlns:a16="http://schemas.microsoft.com/office/drawing/2014/main" id="{B40CB128-54BB-AAD9-5F61-2143EA93C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4" name="TextBox 3">
            <a:extLst>
              <a:ext uri="{FF2B5EF4-FFF2-40B4-BE49-F238E27FC236}">
                <a16:creationId xmlns:a16="http://schemas.microsoft.com/office/drawing/2014/main" id="{59AB6FFB-7FD0-7057-BC27-8C4B01CE34D2}"/>
              </a:ext>
            </a:extLst>
          </p:cNvPr>
          <p:cNvSpPr txBox="1"/>
          <p:nvPr/>
        </p:nvSpPr>
        <p:spPr>
          <a:xfrm>
            <a:off x="228600" y="8267700"/>
            <a:ext cx="6400800" cy="1569660"/>
          </a:xfrm>
          <a:prstGeom prst="rect">
            <a:avLst/>
          </a:prstGeom>
          <a:noFill/>
        </p:spPr>
        <p:txBody>
          <a:bodyPr wrap="square">
            <a:spAutoFit/>
          </a:bodyPr>
          <a:lstStyle/>
          <a:p>
            <a:r>
              <a:rPr lang="en-US" sz="3200" dirty="0">
                <a:hlinkClick r:id="rId4"/>
              </a:rPr>
              <a:t>https://stringfestanalytics.com/how-to-understand-the-modern-excel-ai-stack/</a:t>
            </a:r>
            <a:r>
              <a:rPr lang="en-US" sz="3200" dirty="0"/>
              <a:t xml:space="preserve"> </a:t>
            </a:r>
          </a:p>
        </p:txBody>
      </p:sp>
      <p:pic>
        <p:nvPicPr>
          <p:cNvPr id="6" name="Picture 5">
            <a:extLst>
              <a:ext uri="{FF2B5EF4-FFF2-40B4-BE49-F238E27FC236}">
                <a16:creationId xmlns:a16="http://schemas.microsoft.com/office/drawing/2014/main" id="{A466CBFE-32ED-FCC7-034F-8B80D16BF2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43900" y="342900"/>
            <a:ext cx="9753600" cy="9753600"/>
          </a:xfrm>
          <a:prstGeom prst="rect">
            <a:avLst/>
          </a:prstGeom>
        </p:spPr>
      </p:pic>
      <p:sp>
        <p:nvSpPr>
          <p:cNvPr id="2" name="Rectangle 1">
            <a:extLst>
              <a:ext uri="{FF2B5EF4-FFF2-40B4-BE49-F238E27FC236}">
                <a16:creationId xmlns:a16="http://schemas.microsoft.com/office/drawing/2014/main" id="{2A65A1F1-433D-842C-ED33-95F0AF974DBB}"/>
              </a:ext>
            </a:extLst>
          </p:cNvPr>
          <p:cNvSpPr/>
          <p:nvPr/>
        </p:nvSpPr>
        <p:spPr>
          <a:xfrm>
            <a:off x="8915400" y="4914900"/>
            <a:ext cx="8610600" cy="1447800"/>
          </a:xfrm>
          <a:prstGeom prst="rect">
            <a:avLst/>
          </a:prstGeom>
          <a:noFill/>
          <a:ln w="76200">
            <a:solidFill>
              <a:srgbClr val="CF33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1422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778E5-4EE9-9207-6FC7-3D28CF2383A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81603C7-76CD-A76B-F955-68F3329D8967}"/>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So what for AI?</a:t>
            </a:r>
          </a:p>
        </p:txBody>
      </p:sp>
      <p:sp>
        <p:nvSpPr>
          <p:cNvPr id="3" name="TextBox 2">
            <a:extLst>
              <a:ext uri="{FF2B5EF4-FFF2-40B4-BE49-F238E27FC236}">
                <a16:creationId xmlns:a16="http://schemas.microsoft.com/office/drawing/2014/main" id="{5F84214C-EACA-355D-FAEB-44DBEAE3040B}"/>
              </a:ext>
            </a:extLst>
          </p:cNvPr>
          <p:cNvSpPr txBox="1"/>
          <p:nvPr/>
        </p:nvSpPr>
        <p:spPr>
          <a:xfrm>
            <a:off x="520861" y="2095500"/>
            <a:ext cx="14393120" cy="757130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AI in Excel is only one layer of the workflow</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You still need to get data in, secure it, and move it across systems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Power Automate connects Excel logic to real business processes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Dataverse keeps everything consistent so AI can trust your data</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These tools together make AI reliable, scalable, and production ready</a:t>
            </a:r>
          </a:p>
        </p:txBody>
      </p:sp>
      <p:pic>
        <p:nvPicPr>
          <p:cNvPr id="15" name="Picture 14" descr="A close up of a sign  Description automatically generated">
            <a:extLst>
              <a:ext uri="{FF2B5EF4-FFF2-40B4-BE49-F238E27FC236}">
                <a16:creationId xmlns:a16="http://schemas.microsoft.com/office/drawing/2014/main" id="{6959BD9D-5738-BA78-737D-3115164D42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769688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78ECD-3650-0D5D-E084-2ADF9077632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BF29A83-0331-0E10-824A-4833E4760B19}"/>
              </a:ext>
            </a:extLst>
          </p:cNvPr>
          <p:cNvSpPr txBox="1"/>
          <p:nvPr/>
        </p:nvSpPr>
        <p:spPr>
          <a:xfrm>
            <a:off x="520861" y="170082"/>
            <a:ext cx="16700339" cy="1107996"/>
          </a:xfrm>
          <a:prstGeom prst="rect">
            <a:avLst/>
          </a:prstGeom>
          <a:noFill/>
        </p:spPr>
        <p:txBody>
          <a:bodyPr wrap="square" rtlCol="0">
            <a:spAutoFit/>
          </a:bodyPr>
          <a:lstStyle/>
          <a:p>
            <a:r>
              <a:rPr lang="en-US" sz="6600" dirty="0">
                <a:latin typeface="Aliens &amp; cows" panose="00000500000000000000" pitchFamily="2" charset="0"/>
              </a:rPr>
              <a:t>Day 4 preview: Turning analysis into action</a:t>
            </a:r>
          </a:p>
        </p:txBody>
      </p:sp>
      <p:sp>
        <p:nvSpPr>
          <p:cNvPr id="3" name="TextBox 2">
            <a:extLst>
              <a:ext uri="{FF2B5EF4-FFF2-40B4-BE49-F238E27FC236}">
                <a16:creationId xmlns:a16="http://schemas.microsoft.com/office/drawing/2014/main" id="{1F8BFEA8-EC1E-D186-8530-6533D3345701}"/>
              </a:ext>
            </a:extLst>
          </p:cNvPr>
          <p:cNvSpPr txBox="1"/>
          <p:nvPr/>
        </p:nvSpPr>
        <p:spPr>
          <a:xfrm>
            <a:off x="520861" y="2095500"/>
            <a:ext cx="14393120" cy="6740307"/>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Office Scripts automate the clicks and steps you already take in Excel</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Power Automate turns those scripts into real workflows that run on their own</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Flows push data and results to Teams, Outlook, SharePoint and more</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Together they form the execution layer that carries your work beyond the workbook</a:t>
            </a:r>
          </a:p>
        </p:txBody>
      </p:sp>
      <p:pic>
        <p:nvPicPr>
          <p:cNvPr id="15" name="Picture 14" descr="A close up of a sign  Description automatically generated">
            <a:extLst>
              <a:ext uri="{FF2B5EF4-FFF2-40B4-BE49-F238E27FC236}">
                <a16:creationId xmlns:a16="http://schemas.microsoft.com/office/drawing/2014/main" id="{49376407-AE9F-CCBA-4232-9DA21ADE63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2946292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689860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1CF9C-FC7D-DEAE-2D87-10577021DCA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6CBD8B9-A494-A7F7-0F64-845B951EC99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a:extLst>
              <a:ext uri="{FF2B5EF4-FFF2-40B4-BE49-F238E27FC236}">
                <a16:creationId xmlns:a16="http://schemas.microsoft.com/office/drawing/2014/main" id="{AC63943A-3FAF-22B6-228E-4092BA65AC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a:extLst>
              <a:ext uri="{FF2B5EF4-FFF2-40B4-BE49-F238E27FC236}">
                <a16:creationId xmlns:a16="http://schemas.microsoft.com/office/drawing/2014/main" id="{5DFCEBB5-9C7D-6182-700C-0428AD2DDE67}"/>
              </a:ext>
            </a:extLst>
          </p:cNvPr>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THANK YOU</a:t>
            </a:r>
          </a:p>
        </p:txBody>
      </p:sp>
      <p:sp>
        <p:nvSpPr>
          <p:cNvPr id="2" name="AutoShape 2" descr="Home | Full Stack Modeller">
            <a:extLst>
              <a:ext uri="{FF2B5EF4-FFF2-40B4-BE49-F238E27FC236}">
                <a16:creationId xmlns:a16="http://schemas.microsoft.com/office/drawing/2014/main" id="{16E5F1F1-B220-BEC5-B5EA-499D4942916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09344641"/>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TextBox 10">
            <a:extLst>
              <a:ext uri="{FF2B5EF4-FFF2-40B4-BE49-F238E27FC236}">
                <a16:creationId xmlns:a16="http://schemas.microsoft.com/office/drawing/2014/main" id="{781603C7-76CD-A76B-F955-68F3329D8967}"/>
              </a:ext>
            </a:extLst>
          </p:cNvPr>
          <p:cNvSpPr txBox="1"/>
          <p:nvPr/>
        </p:nvSpPr>
        <p:spPr>
          <a:xfrm>
            <a:off x="520861" y="170082"/>
            <a:ext cx="14642939" cy="2100000"/>
          </a:xfrm>
          <a:prstGeom prst="rect">
            <a:avLst/>
          </a:prstGeom>
          <a:noFill/>
        </p:spPr>
        <p:txBody>
          <a:bodyPr wrap="square" rtlCol="0">
            <a:spAutoFit/>
          </a:bodyPr>
          <a:lstStyle/>
          <a:p>
            <a:r>
              <a:rPr lang="en-US" sz="4400" dirty="0">
                <a:latin typeface="Aliens &amp; cows" panose="00000500000000000000" pitchFamily="2" charset="0"/>
              </a:rPr>
              <a:t>What Copilot in Excel does today</a:t>
            </a:r>
          </a:p>
        </p:txBody>
      </p:sp>
      <p:sp>
        <p:nvSpPr>
          <p:cNvPr id="3" name="TextBox 2">
            <a:extLst>
              <a:ext uri="{FF2B5EF4-FFF2-40B4-BE49-F238E27FC236}">
                <a16:creationId xmlns:a16="http://schemas.microsoft.com/office/drawing/2014/main" id="{5F84214C-EACA-355D-FAEB-44DBEAE3040B}"/>
              </a:ext>
            </a:extLst>
          </p:cNvPr>
          <p:cNvSpPr txBox="1"/>
          <p:nvPr/>
        </p:nvSpPr>
        <p:spPr>
          <a:xfrm>
            <a:off x="520861" y="2350000"/>
            <a:ext cx="14393120" cy="7300000"/>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2800" dirty="0">
                <a:solidFill>
                  <a:srgbClr val="707070"/>
                </a:solidFill>
                <a:latin typeface="Pragmatica" panose="020B0403040502020204" pitchFamily="34" charset="0"/>
              </a:rPr>
              <a:t>Copilot is now the single AI surface inside Excel</a:t>
            </a:r>
          </a:p>
          <a:p>
            <a:pPr marL="685800" indent="-685800">
              <a:buClr>
                <a:srgbClr val="CF3338"/>
              </a:buClr>
              <a:buFont typeface="Arial" panose="020B0604020202020204" pitchFamily="34" charset="0"/>
              <a:buChar char="•"/>
            </a:pPr>
            <a:r>
              <a:rPr lang="en-US" sz="2800" dirty="0">
                <a:solidFill>
                  <a:srgbClr val="707070"/>
                </a:solidFill>
                <a:latin typeface="Pragmatica" panose="020B0403040502020204" pitchFamily="34" charset="0"/>
              </a:rPr>
              <a:t>Advanced Analysis with Python has been folded back into Copilot</a:t>
            </a:r>
          </a:p>
          <a:p>
            <a:pPr marL="685800" indent="-685800">
              <a:buClr>
                <a:srgbClr val="CF3338"/>
              </a:buClr>
              <a:buFont typeface="Arial" panose="020B0604020202020204" pitchFamily="34" charset="0"/>
              <a:buChar char="•"/>
            </a:pPr>
            <a:r>
              <a:rPr lang="en-US" sz="2800" dirty="0">
                <a:solidFill>
                  <a:srgbClr val="707070"/>
                </a:solidFill>
                <a:latin typeface="Pragmatica" panose="020B0403040502020204" pitchFamily="34" charset="0"/>
              </a:rPr>
              <a:t>Agent Mode's multi-step build features now run inside regular Copilot</a:t>
            </a:r>
          </a:p>
          <a:p>
            <a:pPr marL="685800" indent="-685800">
              <a:buClr>
                <a:srgbClr val="CF3338"/>
              </a:buClr>
              <a:buFont typeface="Arial" panose="020B0604020202020204" pitchFamily="34" charset="0"/>
              <a:buChar char="•"/>
            </a:pPr>
            <a:r>
              <a:rPr lang="en-US" sz="2800" dirty="0">
                <a:solidFill>
                  <a:srgbClr val="707070"/>
                </a:solidFill>
                <a:latin typeface="Pragmatica" panose="020B0403040502020204" pitchFamily="34" charset="0"/>
              </a:rPr>
              <a:t>One pane, one subscription, broader reach across your workbook</a:t>
            </a:r>
          </a:p>
          <a:p>
            <a:pPr marL="685800" indent="-685800">
              <a:buClr>
                <a:srgbClr val="CF3338"/>
              </a:buClr>
              <a:buFont typeface="Arial" panose="020B0604020202020204" pitchFamily="34" charset="0"/>
              <a:buChar char="•"/>
            </a:pPr>
            <a:r>
              <a:rPr lang="en-US" sz="2800" dirty="0">
                <a:solidFill>
                  <a:srgbClr val="707070"/>
                </a:solidFill>
                <a:latin typeface="Pragmatica" panose="020B0403040502020204" pitchFamily="34" charset="0"/>
              </a:rPr>
              <a:t>Our job today: use it with confidence, not just convenience</a:t>
            </a:r>
          </a:p>
        </p:txBody>
      </p:sp>
      <p:pic>
        <p:nvPicPr>
          <p:cNvPr id="15" name="Picture 14" descr="A close up of a sign  Description automatically generated">
            <a:extLst>
              <a:ext uri="{FF2B5EF4-FFF2-40B4-BE49-F238E27FC236}">
                <a16:creationId xmlns:a16="http://schemas.microsoft.com/office/drawing/2014/main" id="{6959BD9D-5738-BA78-737D-3115164D42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TextBox 10">
            <a:extLst>
              <a:ext uri="{FF2B5EF4-FFF2-40B4-BE49-F238E27FC236}">
                <a16:creationId xmlns:a16="http://schemas.microsoft.com/office/drawing/2014/main" id="{781603C7-76CD-A76B-F955-68F3329D8967}"/>
              </a:ext>
            </a:extLst>
          </p:cNvPr>
          <p:cNvSpPr txBox="1"/>
          <p:nvPr/>
        </p:nvSpPr>
        <p:spPr>
          <a:xfrm>
            <a:off x="520861" y="170082"/>
            <a:ext cx="14642939" cy="2100000"/>
          </a:xfrm>
          <a:prstGeom prst="rect">
            <a:avLst/>
          </a:prstGeom>
          <a:noFill/>
        </p:spPr>
        <p:txBody>
          <a:bodyPr wrap="square" rtlCol="0">
            <a:spAutoFit/>
          </a:bodyPr>
          <a:lstStyle/>
          <a:p>
            <a:r>
              <a:rPr lang="en-US" sz="4400" dirty="0">
                <a:latin typeface="Aliens &amp; cows" panose="00000500000000000000" pitchFamily="2" charset="0"/>
              </a:rPr>
              <a:t>The four everyday wins</a:t>
            </a:r>
          </a:p>
        </p:txBody>
      </p:sp>
      <p:sp>
        <p:nvSpPr>
          <p:cNvPr id="3" name="TextBox 2">
            <a:extLst>
              <a:ext uri="{FF2B5EF4-FFF2-40B4-BE49-F238E27FC236}">
                <a16:creationId xmlns:a16="http://schemas.microsoft.com/office/drawing/2014/main" id="{5F84214C-EACA-355D-FAEB-44DBEAE3040B}"/>
              </a:ext>
            </a:extLst>
          </p:cNvPr>
          <p:cNvSpPr txBox="1"/>
          <p:nvPr/>
        </p:nvSpPr>
        <p:spPr>
          <a:xfrm>
            <a:off x="520861" y="2350000"/>
            <a:ext cx="14393120" cy="7300000"/>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2800" dirty="0">
                <a:solidFill>
                  <a:srgbClr val="707070"/>
                </a:solidFill>
                <a:latin typeface="Pragmatica" panose="020B0403040502020204" pitchFamily="34" charset="0"/>
              </a:rPr>
              <a:t>Formatting and highlighting — conditional formats, data bars, flags</a:t>
            </a:r>
          </a:p>
          <a:p>
            <a:pPr marL="685800" indent="-685800">
              <a:buClr>
                <a:srgbClr val="CF3338"/>
              </a:buClr>
              <a:buFont typeface="Arial" panose="020B0604020202020204" pitchFamily="34" charset="0"/>
              <a:buChar char="•"/>
            </a:pPr>
            <a:r>
              <a:rPr lang="en-US" sz="2800" dirty="0">
                <a:solidFill>
                  <a:srgbClr val="707070"/>
                </a:solidFill>
                <a:latin typeface="Pragmatica" panose="020B0403040502020204" pitchFamily="34" charset="0"/>
              </a:rPr>
              <a:t>Calculated columns — new fields, categories, unit conversions</a:t>
            </a:r>
          </a:p>
          <a:p>
            <a:pPr marL="685800" indent="-685800">
              <a:buClr>
                <a:srgbClr val="CF3338"/>
              </a:buClr>
              <a:buFont typeface="Arial" panose="020B0604020202020204" pitchFamily="34" charset="0"/>
              <a:buChar char="•"/>
            </a:pPr>
            <a:r>
              <a:rPr lang="en-US" sz="2800" dirty="0">
                <a:solidFill>
                  <a:srgbClr val="707070"/>
                </a:solidFill>
                <a:latin typeface="Pragmatica" panose="020B0403040502020204" pitchFamily="34" charset="0"/>
              </a:rPr>
              <a:t>PivotTables and charts — summaries, comparisons, quick visuals</a:t>
            </a:r>
          </a:p>
          <a:p>
            <a:pPr marL="685800" indent="-685800">
              <a:buClr>
                <a:srgbClr val="CF3338"/>
              </a:buClr>
              <a:buFont typeface="Arial" panose="020B0604020202020204" pitchFamily="34" charset="0"/>
              <a:buChar char="•"/>
            </a:pPr>
            <a:r>
              <a:rPr lang="en-US" sz="2800" dirty="0">
                <a:solidFill>
                  <a:srgbClr val="707070"/>
                </a:solidFill>
                <a:latin typeface="Pragmatica" panose="020B0403040502020204" pitchFamily="34" charset="0"/>
              </a:rPr>
              <a:t>Formulas and explanations — write, fix, and translate formulas in plain English</a:t>
            </a:r>
          </a:p>
        </p:txBody>
      </p:sp>
      <p:pic>
        <p:nvPicPr>
          <p:cNvPr id="15" name="Picture 14" descr="A close up of a sign  Description automatically generated">
            <a:extLst>
              <a:ext uri="{FF2B5EF4-FFF2-40B4-BE49-F238E27FC236}">
                <a16:creationId xmlns:a16="http://schemas.microsoft.com/office/drawing/2014/main" id="{6959BD9D-5738-BA78-737D-3115164D42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5" name="Picture 4" descr="image.png"/>
          <p:cNvPicPr>
            <a:picLocks noChangeAspect="1"/>
          </p:cNvPicPr>
          <p:nvPr/>
        </p:nvPicPr>
        <p:blipFill>
          <a:blip r:embed="rId2"/>
          <a:stretch>
            <a:fillRect/>
          </a:stretch>
        </p:blipFill>
        <p:spPr>
          <a:xfrm>
            <a:off x="15579524" y="7544693"/>
            <a:ext cx="2708477" cy="2987579"/>
          </a:xfrm>
          <a:prstGeom prst="rect">
            <a:avLst/>
          </a:prstGeom>
        </p:spPr>
      </p:pic>
      <p:sp>
        <p:nvSpPr>
          <p:cNvPr id="3" name="TextBox 2"/>
          <p:cNvSpPr txBox="1"/>
          <p:nvPr/>
        </p:nvSpPr>
        <p:spPr>
          <a:xfrm>
            <a:off x="260430" y="329879"/>
            <a:ext cx="9416969" cy="8986434"/>
          </a:xfrm>
          <a:prstGeom prst="rect">
            <a:avLst/>
          </a:prstGeom>
          <a:noFill/>
        </p:spPr>
        <p:txBody>
          <a:bodyPr wrap="square" rtlCol="0">
            <a:spAutoFit/>
          </a:bodyPr>
          <a:lstStyle/>
          <a:p>
            <a:r>
              <a:rPr lang="en-US" sz="4400" b="1" dirty="0">
                <a:solidFill>
                  <a:srgbClr val="CF3338"/>
                </a:solidFill>
                <a:latin typeface="Pragmatica" panose="020B0403040502020204" pitchFamily="34" charset="0"/>
              </a:rPr>
              <a:t>Demo 1: Copilot + Style Guide</a:t>
            </a:r>
            <a:endParaRPr lang="en-US" sz="4400" dirty="0"/>
          </a:p>
          <a:p>
            <a:pPr>
              <a:lnSpc>
                <a:spcPts val="1800"/>
              </a:lnSpc>
            </a:pPr>
            <a:r>
              <a:rPr lang="en-US" sz="1400" dirty="0">
                <a:solidFill>
                  <a:srgbClr val="1F2120"/>
                </a:solidFill>
                <a:latin typeface="Arial"/>
              </a:rPr>
              <a:t>Workbook: energydata.xlsx (75 rows: Country, Year, Energy Source, Production, Revenue, CO2, ESG)</a:t>
            </a:r>
            <a:endParaRPr lang="en-US" sz="1400" dirty="0"/>
          </a:p>
          <a:p>
            <a:pPr>
              <a:lnSpc>
                <a:spcPts val="1800"/>
              </a:lnSpc>
            </a:pPr>
            <a:r>
              <a:rPr lang="en-US" sz="1400" b="1" dirty="0">
                <a:solidFill>
                  <a:srgbClr val="1F2120"/>
                </a:solidFill>
                <a:latin typeface="Arial"/>
              </a:rPr>
              <a:t>Part 1 — Baseline: run basic Copilot prompts with no guidance</a:t>
            </a:r>
            <a:endParaRPr lang="en-US" sz="1400" dirty="0"/>
          </a:p>
          <a:p>
            <a:pPr marL="228600" indent="-228600">
              <a:lnSpc>
                <a:spcPts val="1800"/>
              </a:lnSpc>
              <a:buChar char="•"/>
            </a:pPr>
            <a:r>
              <a:rPr lang="en-US" sz="1400" dirty="0">
                <a:solidFill>
                  <a:srgbClr val="1F2120"/>
                </a:solidFill>
                <a:latin typeface="Arial"/>
              </a:rPr>
              <a:t>Formatting: highlight high-emission rows, add data bars, color by energy source</a:t>
            </a:r>
            <a:endParaRPr lang="en-US" sz="1400" dirty="0"/>
          </a:p>
          <a:p>
            <a:pPr marL="228600" indent="-228600">
              <a:lnSpc>
                <a:spcPts val="1800"/>
              </a:lnSpc>
              <a:buChar char="•"/>
            </a:pPr>
            <a:r>
              <a:rPr lang="en-US" sz="1400" dirty="0">
                <a:solidFill>
                  <a:srgbClr val="1F2120"/>
                </a:solidFill>
                <a:latin typeface="Arial"/>
              </a:rPr>
              <a:t>Calculated columns: Revenue per GWh, Budget Variance, Budget Status</a:t>
            </a:r>
            <a:endParaRPr lang="en-US" sz="1400" dirty="0"/>
          </a:p>
          <a:p>
            <a:pPr marL="228600" indent="-228600">
              <a:lnSpc>
                <a:spcPts val="1800"/>
              </a:lnSpc>
              <a:buChar char="•"/>
            </a:pPr>
            <a:r>
              <a:rPr lang="en-US" sz="1400" dirty="0">
                <a:solidFill>
                  <a:srgbClr val="1F2120"/>
                </a:solidFill>
                <a:latin typeface="Arial"/>
              </a:rPr>
              <a:t>PivotTable + chart: production by country, revenue by source</a:t>
            </a:r>
            <a:endParaRPr lang="en-US" sz="1400" dirty="0"/>
          </a:p>
          <a:p>
            <a:pPr marL="228600" indent="-228600">
              <a:lnSpc>
                <a:spcPts val="1800"/>
              </a:lnSpc>
              <a:buChar char="•"/>
            </a:pPr>
            <a:r>
              <a:rPr lang="en-US" sz="1400" dirty="0">
                <a:solidFill>
                  <a:srgbClr val="1F2120"/>
                </a:solidFill>
                <a:latin typeface="Arial"/>
              </a:rPr>
              <a:t>Formula: explain a SUMPRODUCT and rewrite it with FILTER or LET</a:t>
            </a:r>
            <a:endParaRPr lang="en-US" sz="1400" dirty="0"/>
          </a:p>
          <a:p>
            <a:pPr>
              <a:lnSpc>
                <a:spcPts val="1800"/>
              </a:lnSpc>
            </a:pPr>
            <a:r>
              <a:rPr lang="en-US" sz="1400" dirty="0">
                <a:solidFill>
                  <a:srgbClr val="1F2120"/>
                </a:solidFill>
                <a:latin typeface="Arial"/>
              </a:rPr>
              <a:t>Notice what Copilot defaults to: cell refs instead of tables, VLOOKUP, inconsistent charts</a:t>
            </a:r>
            <a:endParaRPr lang="en-US" sz="1400" dirty="0"/>
          </a:p>
          <a:p>
            <a:pPr>
              <a:lnSpc>
                <a:spcPts val="1800"/>
              </a:lnSpc>
            </a:pPr>
            <a:r>
              <a:rPr lang="en-US" sz="1400" b="1" dirty="0">
                <a:solidFill>
                  <a:srgbClr val="1F2120"/>
                </a:solidFill>
                <a:latin typeface="Arial"/>
              </a:rPr>
              <a:t>Part 2 — Upload the EITI data viz style guide PDF into Copilot</a:t>
            </a:r>
            <a:endParaRPr lang="en-US" sz="1400" dirty="0"/>
          </a:p>
          <a:p>
            <a:pPr marL="228600" indent="-228600">
              <a:lnSpc>
                <a:spcPts val="1800"/>
              </a:lnSpc>
              <a:buChar char="•"/>
            </a:pPr>
            <a:r>
              <a:rPr lang="en-US" sz="1400" dirty="0">
                <a:solidFill>
                  <a:srgbClr val="1F2120"/>
                </a:solidFill>
                <a:latin typeface="Arial"/>
              </a:rPr>
              <a:t>Setup prompt: use the guide for all chart decisions going forward</a:t>
            </a:r>
            <a:endParaRPr lang="en-US" sz="1400" dirty="0"/>
          </a:p>
          <a:p>
            <a:pPr marL="228600" indent="-228600">
              <a:lnSpc>
                <a:spcPts val="1800"/>
              </a:lnSpc>
              <a:buChar char="•"/>
            </a:pPr>
            <a:r>
              <a:rPr lang="en-US" sz="1400" dirty="0">
                <a:solidFill>
                  <a:srgbClr val="1F2120"/>
                </a:solidFill>
                <a:latin typeface="Arial"/>
              </a:rPr>
              <a:t>Re-run four viz prompts: comparison, composition, correlation, distribution</a:t>
            </a:r>
            <a:endParaRPr lang="en-US" sz="1400" dirty="0"/>
          </a:p>
          <a:p>
            <a:pPr marL="228600" indent="-228600">
              <a:lnSpc>
                <a:spcPts val="1800"/>
              </a:lnSpc>
              <a:buChar char="•"/>
            </a:pPr>
            <a:r>
              <a:rPr lang="en-US" sz="1400" dirty="0">
                <a:solidFill>
                  <a:srgbClr val="1F2120"/>
                </a:solidFill>
                <a:latin typeface="Arial"/>
              </a:rPr>
              <a:t>Copilot now names the chart goal and picks the type the guide recommends</a:t>
            </a:r>
            <a:endParaRPr lang="en-US" sz="1400" dirty="0"/>
          </a:p>
          <a:p>
            <a:pPr>
              <a:lnSpc>
                <a:spcPts val="1800"/>
              </a:lnSpc>
            </a:pPr>
            <a:r>
              <a:rPr lang="en-US" sz="1400" dirty="0">
                <a:solidFill>
                  <a:srgbClr val="1F2120"/>
                </a:solidFill>
                <a:latin typeface="Arial"/>
              </a:rPr>
              <a:t>Takeaway: one reference doc turns generic output into reasoned, standards-driven work</a:t>
            </a:r>
            <a:endParaRPr lang="en-US" sz="1400" dirty="0"/>
          </a:p>
          <a:p>
            <a:pPr>
              <a:spcBef>
                <a:spcPts val="1200"/>
              </a:spcBef>
            </a:pPr>
            <a:r>
              <a:rPr lang="en-US" sz="2000" dirty="0">
                <a:solidFill>
                  <a:srgbClr val="CF3338"/>
                </a:solidFill>
                <a:latin typeface="Consolas"/>
              </a:rPr>
              <a:t>Folder: 1-data-viz-style-guide</a:t>
            </a:r>
            <a:endParaRPr lang="en-US" sz="20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5" name="Picture 4" descr="image.png"/>
          <p:cNvPicPr>
            <a:picLocks noChangeAspect="1"/>
          </p:cNvPicPr>
          <p:nvPr/>
        </p:nvPicPr>
        <p:blipFill>
          <a:blip r:embed="rId2"/>
          <a:stretch>
            <a:fillRect/>
          </a:stretch>
        </p:blipFill>
        <p:spPr>
          <a:xfrm>
            <a:off x="15579524" y="7544693"/>
            <a:ext cx="2708477" cy="2987579"/>
          </a:xfrm>
          <a:prstGeom prst="rect">
            <a:avLst/>
          </a:prstGeom>
        </p:spPr>
      </p:pic>
      <p:sp>
        <p:nvSpPr>
          <p:cNvPr id="3" name="TextBox 2"/>
          <p:cNvSpPr txBox="1"/>
          <p:nvPr/>
        </p:nvSpPr>
        <p:spPr>
          <a:xfrm>
            <a:off x="260430" y="329879"/>
            <a:ext cx="9416969" cy="8986434"/>
          </a:xfrm>
          <a:prstGeom prst="rect">
            <a:avLst/>
          </a:prstGeom>
          <a:noFill/>
        </p:spPr>
        <p:txBody>
          <a:bodyPr wrap="square" rtlCol="0">
            <a:spAutoFit/>
          </a:bodyPr>
          <a:lstStyle/>
          <a:p>
            <a:r>
              <a:rPr lang="en-US" sz="4400" b="1" dirty="0">
                <a:solidFill>
                  <a:srgbClr val="CF3338"/>
                </a:solidFill>
                <a:latin typeface="Pragmatica" panose="020B0403040502020204" pitchFamily="34" charset="0"/>
              </a:rPr>
              <a:t>Demo 2: Copilot vs. Claude</a:t>
            </a:r>
            <a:endParaRPr lang="en-US" sz="4400" dirty="0"/>
          </a:p>
          <a:p>
            <a:pPr>
              <a:lnSpc>
                <a:spcPts val="1800"/>
              </a:lnSpc>
            </a:pPr>
            <a:r>
              <a:rPr lang="en-US" sz="1400" dirty="0">
                <a:solidFill>
                  <a:srgbClr val="1F2120"/>
                </a:solidFill>
                <a:latin typeface="Arial"/>
              </a:rPr>
              <a:t>Workbook: Copilot vs Claude Data.xlsx (25 expense rows, two identical sheets)</a:t>
            </a:r>
            <a:endParaRPr lang="en-US" sz="1400" dirty="0"/>
          </a:p>
          <a:p>
            <a:pPr>
              <a:lnSpc>
                <a:spcPts val="1800"/>
              </a:lnSpc>
            </a:pPr>
            <a:r>
              <a:rPr lang="en-US" sz="1400" b="1" dirty="0">
                <a:solidFill>
                  <a:srgbClr val="1F2120"/>
                </a:solidFill>
                <a:latin typeface="Arial"/>
              </a:rPr>
              <a:t>Same data, same three prompts, two tools:</a:t>
            </a:r>
            <a:endParaRPr lang="en-US" sz="1400" dirty="0"/>
          </a:p>
          <a:p>
            <a:pPr marL="228600" indent="-228600">
              <a:lnSpc>
                <a:spcPts val="1800"/>
              </a:lnSpc>
              <a:buChar char="•"/>
            </a:pPr>
            <a:r>
              <a:rPr lang="en-US" sz="1400" dirty="0">
                <a:solidFill>
                  <a:srgbClr val="1F2120"/>
                </a:solidFill>
                <a:latin typeface="Arial"/>
              </a:rPr>
              <a:t>Prompt 1: Categorize expenses (Travel, Meals, Office Supplies, Lodging, etc.)</a:t>
            </a:r>
            <a:endParaRPr lang="en-US" sz="1400" dirty="0"/>
          </a:p>
          <a:p>
            <a:pPr marL="228600" indent="-228600">
              <a:lnSpc>
                <a:spcPts val="1800"/>
              </a:lnSpc>
              <a:buChar char="•"/>
            </a:pPr>
            <a:r>
              <a:rPr lang="en-US" sz="1400" dirty="0">
                <a:solidFill>
                  <a:srgbClr val="1F2120"/>
                </a:solidFill>
                <a:latin typeface="Arial"/>
              </a:rPr>
              <a:t>Prompt 2: Summarize spending by Department and Category</a:t>
            </a:r>
            <a:endParaRPr lang="en-US" sz="1400" dirty="0"/>
          </a:p>
          <a:p>
            <a:pPr marL="228600" indent="-228600">
              <a:lnSpc>
                <a:spcPts val="1800"/>
              </a:lnSpc>
              <a:buChar char="•"/>
            </a:pPr>
            <a:r>
              <a:rPr lang="en-US" sz="1400" dirty="0">
                <a:solidFill>
                  <a:srgbClr val="1F2120"/>
                </a:solidFill>
                <a:latin typeface="Arial"/>
              </a:rPr>
              <a:t>Prompt 3: Flag anomalies — duplicates, outliers, miscategorizations</a:t>
            </a:r>
            <a:endParaRPr lang="en-US" sz="1400" dirty="0"/>
          </a:p>
          <a:p>
            <a:pPr>
              <a:lnSpc>
                <a:spcPts val="1800"/>
              </a:lnSpc>
            </a:pPr>
            <a:r>
              <a:rPr lang="en-US" sz="1400" dirty="0">
                <a:solidFill>
                  <a:srgbClr val="1F2120"/>
                </a:solidFill>
                <a:latin typeface="Arial"/>
              </a:rPr>
              <a:t>Run on data-copilot sheet with Copilot first, then data-claude with Claude</a:t>
            </a:r>
            <a:endParaRPr lang="en-US" sz="1400" dirty="0"/>
          </a:p>
          <a:p>
            <a:pPr>
              <a:lnSpc>
                <a:spcPts val="1800"/>
              </a:lnSpc>
            </a:pPr>
            <a:r>
              <a:rPr lang="en-US" sz="1400" b="1" dirty="0">
                <a:solidFill>
                  <a:srgbClr val="1F2120"/>
                </a:solidFill>
                <a:latin typeface="Arial"/>
              </a:rPr>
              <a:t>What to compare:</a:t>
            </a:r>
            <a:endParaRPr lang="en-US" sz="1400" dirty="0"/>
          </a:p>
          <a:p>
            <a:pPr marL="228600" indent="-228600">
              <a:lnSpc>
                <a:spcPts val="1800"/>
              </a:lnSpc>
              <a:buChar char="•"/>
            </a:pPr>
            <a:r>
              <a:rPr lang="en-US" sz="1400" dirty="0">
                <a:solidFill>
                  <a:srgbClr val="1F2120"/>
                </a:solidFill>
                <a:latin typeface="Arial"/>
              </a:rPr>
              <a:t>Categorization consistency — same labels? Which set would you use?</a:t>
            </a:r>
            <a:endParaRPr lang="en-US" sz="1400" dirty="0"/>
          </a:p>
          <a:p>
            <a:pPr marL="228600" indent="-228600">
              <a:lnSpc>
                <a:spcPts val="1800"/>
              </a:lnSpc>
              <a:buChar char="•"/>
            </a:pPr>
            <a:r>
              <a:rPr lang="en-US" sz="1400" dirty="0">
                <a:solidFill>
                  <a:srgbClr val="1F2120"/>
                </a:solidFill>
                <a:latin typeface="Arial"/>
              </a:rPr>
              <a:t>Where the work lives — Copilot edits in place, Claude gives text you move</a:t>
            </a:r>
            <a:endParaRPr lang="en-US" sz="1400" dirty="0"/>
          </a:p>
          <a:p>
            <a:pPr marL="228600" indent="-228600">
              <a:lnSpc>
                <a:spcPts val="1800"/>
              </a:lnSpc>
              <a:buChar char="•"/>
            </a:pPr>
            <a:r>
              <a:rPr lang="en-US" sz="1400" dirty="0">
                <a:solidFill>
                  <a:srgbClr val="1F2120"/>
                </a:solidFill>
                <a:latin typeface="Arial"/>
              </a:rPr>
              <a:t>Data protection — Copilot in your tenant vs. Claude outside (green shield)</a:t>
            </a:r>
            <a:endParaRPr lang="en-US" sz="1400" dirty="0"/>
          </a:p>
          <a:p>
            <a:pPr>
              <a:lnSpc>
                <a:spcPts val="1800"/>
              </a:lnSpc>
            </a:pPr>
            <a:r>
              <a:rPr lang="en-US" sz="1400" dirty="0">
                <a:solidFill>
                  <a:srgbClr val="1F2120"/>
                </a:solidFill>
                <a:latin typeface="Arial"/>
              </a:rPr>
              <a:t>Decision: Copilot for in-Excel work + sensitive data; Claude for deliverables around Excel</a:t>
            </a:r>
            <a:endParaRPr lang="en-US" sz="1400" dirty="0"/>
          </a:p>
          <a:p>
            <a:pPr>
              <a:lnSpc>
                <a:spcPts val="1800"/>
              </a:lnSpc>
            </a:pPr>
            <a:r>
              <a:rPr lang="en-US" sz="1400" dirty="0">
                <a:solidFill>
                  <a:srgbClr val="1F2120"/>
                </a:solidFill>
                <a:latin typeface="Arial"/>
              </a:rPr>
              <a:t>Most teams end up with both — learn when to reach for which</a:t>
            </a:r>
            <a:endParaRPr lang="en-US" sz="1400" dirty="0"/>
          </a:p>
          <a:p>
            <a:pPr>
              <a:spcBef>
                <a:spcPts val="1200"/>
              </a:spcBef>
            </a:pPr>
            <a:r>
              <a:rPr lang="en-US" sz="2000" dirty="0">
                <a:solidFill>
                  <a:srgbClr val="CF3338"/>
                </a:solidFill>
                <a:latin typeface="Consolas"/>
              </a:rPr>
              <a:t>Folder: 2-claude-vs-copilot</a:t>
            </a:r>
            <a:endParaRPr lang="en-US" sz="20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5" name="Picture 4" descr="image.png"/>
          <p:cNvPicPr>
            <a:picLocks noChangeAspect="1"/>
          </p:cNvPicPr>
          <p:nvPr/>
        </p:nvPicPr>
        <p:blipFill>
          <a:blip r:embed="rId2"/>
          <a:stretch>
            <a:fillRect/>
          </a:stretch>
        </p:blipFill>
        <p:spPr>
          <a:xfrm>
            <a:off x="15579524" y="7544693"/>
            <a:ext cx="2708477" cy="2987579"/>
          </a:xfrm>
          <a:prstGeom prst="rect">
            <a:avLst/>
          </a:prstGeom>
        </p:spPr>
      </p:pic>
      <p:sp>
        <p:nvSpPr>
          <p:cNvPr id="3" name="TextBox 2"/>
          <p:cNvSpPr txBox="1"/>
          <p:nvPr/>
        </p:nvSpPr>
        <p:spPr>
          <a:xfrm>
            <a:off x="260430" y="329879"/>
            <a:ext cx="9416969" cy="8986434"/>
          </a:xfrm>
          <a:prstGeom prst="rect">
            <a:avLst/>
          </a:prstGeom>
          <a:noFill/>
        </p:spPr>
        <p:txBody>
          <a:bodyPr wrap="square" rtlCol="0">
            <a:spAutoFit/>
          </a:bodyPr>
          <a:lstStyle/>
          <a:p>
            <a:r>
              <a:rPr lang="en-US" sz="4400" b="1" dirty="0">
                <a:solidFill>
                  <a:srgbClr val="CF3338"/>
                </a:solidFill>
                <a:latin typeface="Pragmatica" panose="020B0403040502020204" pitchFamily="34" charset="0"/>
              </a:rPr>
              <a:t>Demo 3: Audit and Change Log</a:t>
            </a:r>
            <a:endParaRPr lang="en-US" sz="4400" dirty="0"/>
          </a:p>
          <a:p>
            <a:pPr>
              <a:lnSpc>
                <a:spcPts val="1800"/>
              </a:lnSpc>
            </a:pPr>
            <a:r>
              <a:rPr lang="en-US" sz="1400" dirty="0">
                <a:solidFill>
                  <a:srgbClr val="1F2120"/>
                </a:solidFill>
                <a:latin typeface="Arial"/>
              </a:rPr>
              <a:t>Workbook: copilot-logging-demo.xlsx (Performance sheet: Region, Revenue, Cost)</a:t>
            </a:r>
            <a:endParaRPr lang="en-US" sz="1400" dirty="0"/>
          </a:p>
          <a:p>
            <a:pPr>
              <a:lnSpc>
                <a:spcPts val="1800"/>
              </a:lnSpc>
            </a:pPr>
            <a:r>
              <a:rPr lang="en-US" sz="1400" dirty="0">
                <a:solidFill>
                  <a:srgbClr val="1F2120"/>
                </a:solidFill>
                <a:latin typeface="Arial"/>
              </a:rPr>
              <a:t>The problem: Copilot forgets between sessions — no trail of what changed or why</a:t>
            </a:r>
            <a:endParaRPr lang="en-US" sz="1400" dirty="0"/>
          </a:p>
          <a:p>
            <a:pPr>
              <a:lnSpc>
                <a:spcPts val="1800"/>
              </a:lnSpc>
            </a:pPr>
            <a:r>
              <a:rPr lang="en-US" sz="1400" dirty="0">
                <a:solidFill>
                  <a:srgbClr val="1F2120"/>
                </a:solidFill>
                <a:latin typeface="Arial"/>
              </a:rPr>
              <a:t>The fix: make the AI log its own work inside the workbook</a:t>
            </a:r>
            <a:endParaRPr lang="en-US" sz="1400" dirty="0"/>
          </a:p>
          <a:p>
            <a:pPr>
              <a:lnSpc>
                <a:spcPts val="1800"/>
              </a:lnSpc>
            </a:pPr>
            <a:r>
              <a:rPr lang="en-US" sz="1400" b="1" dirty="0">
                <a:solidFill>
                  <a:srgbClr val="1F2120"/>
                </a:solidFill>
                <a:latin typeface="Arial"/>
              </a:rPr>
              <a:t>Three-prompt pattern:</a:t>
            </a:r>
            <a:endParaRPr lang="en-US" sz="1400" dirty="0"/>
          </a:p>
          <a:p>
            <a:pPr marL="228600" indent="-228600">
              <a:lnSpc>
                <a:spcPts val="1800"/>
              </a:lnSpc>
              <a:buChar char="•"/>
            </a:pPr>
            <a:r>
              <a:rPr lang="en-US" sz="1400" dirty="0">
                <a:solidFill>
                  <a:srgbClr val="1F2120"/>
                </a:solidFill>
                <a:latin typeface="Arial"/>
              </a:rPr>
              <a:t>Prompt 1 (run once): create a Copilot_Log sheet with a CopilotLog table</a:t>
            </a:r>
            <a:endParaRPr lang="en-US" sz="1400" dirty="0"/>
          </a:p>
          <a:p>
            <a:pPr marL="228600" indent="-228600">
              <a:lnSpc>
                <a:spcPts val="1800"/>
              </a:lnSpc>
              <a:buChar char="•"/>
            </a:pPr>
            <a:r>
              <a:rPr lang="en-US" sz="1400" dirty="0">
                <a:solidFill>
                  <a:srgbClr val="1F2120"/>
                </a:solidFill>
                <a:latin typeface="Arial"/>
              </a:rPr>
              <a:t>Prompt 2 (every task): do the work AND add a row to the log</a:t>
            </a:r>
            <a:endParaRPr lang="en-US" sz="1400" dirty="0"/>
          </a:p>
          <a:p>
            <a:pPr marL="228600" indent="-228600">
              <a:lnSpc>
                <a:spcPts val="1800"/>
              </a:lnSpc>
              <a:buChar char="•"/>
            </a:pPr>
            <a:r>
              <a:rPr lang="en-US" sz="1400" dirty="0">
                <a:solidFill>
                  <a:srgbClr val="1F2120"/>
                </a:solidFill>
                <a:latin typeface="Arial"/>
              </a:rPr>
              <a:t>Prompt 3 (on reopen): read the log first, summarize last task, confirm readiness</a:t>
            </a:r>
            <a:endParaRPr lang="en-US" sz="1400" dirty="0"/>
          </a:p>
          <a:p>
            <a:pPr>
              <a:lnSpc>
                <a:spcPts val="1800"/>
              </a:lnSpc>
            </a:pPr>
            <a:r>
              <a:rPr lang="en-US" sz="1400" dirty="0">
                <a:solidFill>
                  <a:srgbClr val="1F2120"/>
                </a:solidFill>
                <a:latin typeface="Arial"/>
              </a:rPr>
              <a:t>Live demo: set up log → add Profit + Margin columns → close → reopen → resume</a:t>
            </a:r>
            <a:endParaRPr lang="en-US" sz="1400" dirty="0"/>
          </a:p>
          <a:p>
            <a:pPr>
              <a:lnSpc>
                <a:spcPts val="1800"/>
              </a:lnSpc>
            </a:pPr>
            <a:r>
              <a:rPr lang="en-US" sz="1400" dirty="0">
                <a:solidFill>
                  <a:srgbClr val="1F2120"/>
                </a:solidFill>
                <a:latin typeface="Arial"/>
              </a:rPr>
              <a:t>The log lives in the file, not the chat — survives sessions, sharing, and reviewers</a:t>
            </a:r>
            <a:endParaRPr lang="en-US" sz="1400" dirty="0"/>
          </a:p>
          <a:p>
            <a:pPr>
              <a:lnSpc>
                <a:spcPts val="1800"/>
              </a:lnSpc>
            </a:pPr>
            <a:r>
              <a:rPr lang="en-US" sz="1400" dirty="0">
                <a:solidFill>
                  <a:srgbClr val="1F2120"/>
                </a:solidFill>
                <a:latin typeface="Arial"/>
              </a:rPr>
              <a:t>This pattern is tool-agnostic: works in Copilot, Claude, or any AI assistant</a:t>
            </a:r>
            <a:endParaRPr lang="en-US" sz="1400" dirty="0"/>
          </a:p>
          <a:p>
            <a:pPr>
              <a:lnSpc>
                <a:spcPts val="1800"/>
              </a:lnSpc>
            </a:pPr>
            <a:r>
              <a:rPr lang="en-US" sz="1400" dirty="0">
                <a:solidFill>
                  <a:srgbClr val="1F2120"/>
                </a:solidFill>
                <a:latin typeface="Arial"/>
              </a:rPr>
              <a:t>Pair with a style guide for a workflow you can defend in a review</a:t>
            </a:r>
            <a:endParaRPr lang="en-US" sz="1400" dirty="0"/>
          </a:p>
          <a:p>
            <a:pPr>
              <a:lnSpc>
                <a:spcPts val="1800"/>
              </a:lnSpc>
            </a:pPr>
            <a:r>
              <a:rPr lang="en-US" sz="1400" dirty="0">
                <a:solidFill>
                  <a:srgbClr val="1F2120"/>
                </a:solidFill>
                <a:latin typeface="Arial"/>
              </a:rPr>
              <a:t>Handout: Copilot Logging Guide has the full prompt text</a:t>
            </a:r>
            <a:endParaRPr lang="en-US" sz="1400" dirty="0"/>
          </a:p>
          <a:p>
            <a:pPr>
              <a:spcBef>
                <a:spcPts val="1200"/>
              </a:spcBef>
            </a:pPr>
            <a:r>
              <a:rPr lang="en-US" sz="2000" dirty="0">
                <a:solidFill>
                  <a:srgbClr val="CF3338"/>
                </a:solidFill>
                <a:latin typeface="Consolas"/>
              </a:rPr>
              <a:t>Folder: 3-audit-log</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3903</TotalTime>
  <Words>1392</Words>
  <Application>Microsoft Office PowerPoint</Application>
  <PresentationFormat>Custom</PresentationFormat>
  <Paragraphs>54</Paragraphs>
  <Slides>8</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Aliens &amp; cows</vt:lpstr>
      <vt:lpstr>Arial</vt:lpstr>
      <vt:lpstr>Pragmatica</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239</cp:revision>
  <dcterms:created xsi:type="dcterms:W3CDTF">2006-08-16T00:00:00Z</dcterms:created>
  <dcterms:modified xsi:type="dcterms:W3CDTF">2026-04-08T18:01:30Z</dcterms:modified>
  <dc:identifier>DADurESpNu8</dc:identifier>
</cp:coreProperties>
</file>