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3"/>
  </p:notesMasterIdLst>
  <p:sldIdLst>
    <p:sldId id="256" r:id="rId2"/>
    <p:sldId id="475" r:id="rId3"/>
    <p:sldId id="471" r:id="rId4"/>
    <p:sldId id="476" r:id="rId5"/>
    <p:sldId id="478" r:id="rId6"/>
    <p:sldId id="481" r:id="rId7"/>
    <p:sldId id="484" r:id="rId8"/>
    <p:sldId id="474" r:id="rId9"/>
    <p:sldId id="473" r:id="rId10"/>
    <p:sldId id="415" r:id="rId11"/>
    <p:sldId id="470" r:id="rId1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8463" autoAdjust="0"/>
  </p:normalViewPr>
  <p:slideViewPr>
    <p:cSldViewPr>
      <p:cViewPr>
        <p:scale>
          <a:sx n="38" d="100"/>
          <a:sy n="38" d="100"/>
        </p:scale>
        <p:origin x="485" y="56"/>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4/16/2026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Day 3. Today is about Copilot in Excel — the AI that lives inside the app. Quick context before we dive in: Advanced Analysis with Python and Agent Mode have both been rolled back into regular Copilot, so there is one pane to learn instead of three. Our job is to use it with confidence, not just convenience, so what we hand off on Friday can survive a review.</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Yesterday we fought messy data. We used Copilot to diagnose issues in Power Query, had it tidy our M code, pushed the cleaning logic into a Dataflow, and landed a governed table in Dataverse. The point: before AI can help you analyze, it needs data it can trust. Today we move one layer up — using AI inside the workbook itself.</a:t>
            </a:r>
          </a:p>
        </p:txBody>
      </p:sp>
      <p:sp>
        <p:nvSpPr>
          <p:cNvPr id="4" name="Slide Number Placeholder 3"/>
          <p:cNvSpPr>
            <a:spLocks noGrp="1"/>
          </p:cNvSpPr>
          <p:nvPr>
            <p:ph type="sldNum" sz="quarter" idx="5"/>
          </p:nvPr>
        </p:nvSpPr>
        <p:spPr/>
        <p:txBody>
          <a:bodyPr/>
          <a:lstStyle/>
          <a:p>
            <a:fld id="{FFB500C5-13F7-48FC-8160-C29AECF6C602}" type="slidenum">
              <a:rPr lang="en-US" smtClean="0"/>
              <a:t>2</a:t>
            </a:fld>
            <a:endParaRPr lang="en-US"/>
          </a:p>
        </p:txBody>
      </p:sp>
    </p:spTree>
    <p:extLst>
      <p:ext uri="{BB962C8B-B14F-4D97-AF65-F5344CB8AC3E}">
        <p14:creationId xmlns:p14="http://schemas.microsoft.com/office/powerpoint/2010/main" val="1840290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orientation. This diagram shows where Copilot fits in the modern Excel AI stack. Data comes in from the bottom, moves through cleaning and governance, then lands in the analytical layer where Copilot lives. Above that sits the automation and delivery layer we will cover in Day 4. The important thing: Copilot is one layer of the workflow, not the whole 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Heads-up on what has changed. Advanced Analysis with Python — the feature that let Copilot run clustering or regression directly — has been folded back into regular Copilot. Same for Agent Mode, the multi-step build-me-a-whole-model feature. So instead of three surfaces and three license tiers, you now have one Copilot pane that is broader and deeper than it used to be. The risk: it is more tempting to treat it as a black box. Our job today is to stay in the driver's seat.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What I like to show here is how Copilot behaves when you don’t really give it much to go on. It’ll do the job, but you start to see some patterns pretty quickly—things like defaulting to cell references, using older functions like VLOOKUP, and producing charts that aren’t all that consistent. Nothing is technically wrong, it just feels a little… generic. The shift happens when you give it a reference point, like a data visualization style guide. Now instead of just generating something, it’s making decisions based on a standard. When you rerun the exact same prompts, the output feels a lot more intentional and a lot more defensible, which is really the goal.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Here the setup is simple on purpose: same data, same prompts, just two different tools. That lets you really see how each one behaves. Copilot works directly in Excel, so it’s editing your file in place, which is great for speed and workflow but does require some trust. Claude, on the other hand, tends to give you output that you then bring into Excel, so there’s a bit more separation. What I usually tell people is this isn’t about picking a winner. It’s more about understanding where the work lives and how sensitive your data is. In practice, most teams end up using both—Copilot for hands-on Excel work, and Claude for things that sit around Excel like summaries or deliverables.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This is probably the biggest practical issue people run into: Copilot doesn’t remember what it did last time, so there’s no real trail of what changed or why. That’s where this logging pattern comes in. Instead of relying on the chat, you have the AI write a log of its own actions directly into the workbook. It’s a simple three-step approach: set up the log once, have it add to the log every time it does work, and then when you reopen the file, have it read the log and pick back up. What’s nice is you can actually demonstrate continuity—close the file, reopen it, and keep going. It turns the whole experience from something a bit opaque into something you can actually explain and defend, especially if someone else needs to review your work.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Pulling back to the big picture for a second. AI in Excel is only one layer. You still need to get data in, secure it, and move results across systems. Power Automate connects Excel logic to business processes. Dataverse keeps the data consistent enough that AI can trust it. Together these tools make Copilot reliable and scalable, not just impressive in a demo.</a:t>
            </a:r>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1354516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Tomorrow we move from getting analysis done inside Excel to pushing analysis out of Excel automatically. Office Scripts automate the clicks you already take. Power Automate turns those scripts into real workflows. Flows push results to Teams, Outlook, SharePoint. Together they form the execution layer that carries your work beyond the workbook.</a:t>
            </a:r>
          </a:p>
        </p:txBody>
      </p:sp>
      <p:sp>
        <p:nvSpPr>
          <p:cNvPr id="4" name="Slide Number Placeholder 3"/>
          <p:cNvSpPr>
            <a:spLocks noGrp="1"/>
          </p:cNvSpPr>
          <p:nvPr>
            <p:ph type="sldNum" sz="quarter" idx="5"/>
          </p:nvPr>
        </p:nvSpPr>
        <p:spPr/>
        <p:txBody>
          <a:bodyPr/>
          <a:lstStyle/>
          <a:p>
            <a:fld id="{FFB500C5-13F7-48FC-8160-C29AECF6C602}" type="slidenum">
              <a:rPr lang="en-US" smtClean="0"/>
              <a:t>9</a:t>
            </a:fld>
            <a:endParaRPr lang="en-US"/>
          </a:p>
        </p:txBody>
      </p:sp>
    </p:spTree>
    <p:extLst>
      <p:ext uri="{BB962C8B-B14F-4D97-AF65-F5344CB8AC3E}">
        <p14:creationId xmlns:p14="http://schemas.microsoft.com/office/powerpoint/2010/main" val="2175846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it up. Good questions to seed if the room is quiet: which of the three patterns — style guide or logging — would you try first on Monday? Are there workbooks you would NOT want to use Copilot on even with the shield, and why?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Thanks for hanging in. See you tomorrow for Day 4 — Office Scripts and Power Automate.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hyperlink" Target="https://stringfestanalytics.com/how-to-understand-the-modern-excel-ai-stack/"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1754326"/>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3: Copilot in Excel</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a:latin typeface="Aliens &amp; cows" panose="00000500000000000000" pitchFamily="2" charset="0"/>
              </a:rPr>
              <a:t>Day 2 </a:t>
            </a:r>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590931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Saw why messy data breaks AI</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Used Copilot to diagnose issues (but not fix them)</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 Copilot to tidy our M code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Pushed the cleaning logic into a Dataflow</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Published a clean, governed table into Dataverse</a:t>
            </a:r>
          </a:p>
        </p:txBody>
      </p:sp>
      <p:pic>
        <p:nvPicPr>
          <p:cNvPr id="15" name="Picture 14" descr="A close up of a sign  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133890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  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4"/>
              </a:rPr>
              <a:t>https://stringfestanalytics.com/how-to-understand-the-modern-excel-ai-stack/</a:t>
            </a:r>
            <a:r>
              <a:rPr lang="en-US" sz="3200" dirty="0"/>
              <a:t> </a:t>
            </a:r>
          </a:p>
        </p:txBody>
      </p:sp>
      <p:pic>
        <p:nvPicPr>
          <p:cNvPr id="6" name="Picture 5">
            <a:extLst>
              <a:ext uri="{FF2B5EF4-FFF2-40B4-BE49-F238E27FC236}">
                <a16:creationId xmlns:a16="http://schemas.microsoft.com/office/drawing/2014/main" id="{A466CBFE-32ED-FCC7-034F-8B80D16BF21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43900" y="342900"/>
            <a:ext cx="9753600" cy="9753600"/>
          </a:xfrm>
          <a:prstGeom prst="rect">
            <a:avLst/>
          </a:prstGeom>
        </p:spPr>
      </p:pic>
      <p:sp>
        <p:nvSpPr>
          <p:cNvPr id="2" name="Rectangle 1">
            <a:extLst>
              <a:ext uri="{FF2B5EF4-FFF2-40B4-BE49-F238E27FC236}">
                <a16:creationId xmlns:a16="http://schemas.microsoft.com/office/drawing/2014/main" id="{2A65A1F1-433D-842C-ED33-95F0AF974DBB}"/>
              </a:ext>
            </a:extLst>
          </p:cNvPr>
          <p:cNvSpPr/>
          <p:nvPr/>
        </p:nvSpPr>
        <p:spPr>
          <a:xfrm>
            <a:off x="8915400" y="4914900"/>
            <a:ext cx="8610600" cy="14478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107996"/>
          </a:xfrm>
          <a:prstGeom prst="rect">
            <a:avLst/>
          </a:prstGeom>
          <a:noFill/>
        </p:spPr>
        <p:txBody>
          <a:bodyPr wrap="square" rtlCol="0">
            <a:spAutoFit/>
          </a:bodyPr>
          <a:lstStyle/>
          <a:p>
            <a:r>
              <a:rPr lang="en-US" sz="6600" dirty="0">
                <a:latin typeface="Aliens &amp; cows" panose="00000500000000000000" pitchFamily="2" charset="0"/>
              </a:rPr>
              <a:t>What Copilot in Excel does today</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3500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Copilot is now the single AI surface inside Excel</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Advanced Analysis with Python has been folded back into Copilot</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Agent Mode's multi-step build features now run inside regular Copilot</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One pane, one subscription, broader reach across your workbook</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Our job today: use it with confidence, not just convenience</a:t>
            </a:r>
          </a:p>
        </p:txBody>
      </p:sp>
      <p:pic>
        <p:nvPicPr>
          <p:cNvPr id="15" name="Picture 14" descr="A close up of a sign  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5" name="Picture 4" descr="image.png"/>
          <p:cNvPicPr>
            <a:picLocks noChangeAspect="1"/>
          </p:cNvPicPr>
          <p:nvPr/>
        </p:nvPicPr>
        <p:blipFill>
          <a:blip r:embed="rId3"/>
          <a:stretch>
            <a:fillRect/>
          </a:stretch>
        </p:blipFill>
        <p:spPr>
          <a:xfrm>
            <a:off x="15579524" y="7544693"/>
            <a:ext cx="2708477" cy="2987579"/>
          </a:xfrm>
          <a:prstGeom prst="rect">
            <a:avLst/>
          </a:prstGeom>
        </p:spPr>
      </p:pic>
      <p:sp>
        <p:nvSpPr>
          <p:cNvPr id="3" name="TextBox 2"/>
          <p:cNvSpPr txBox="1"/>
          <p:nvPr/>
        </p:nvSpPr>
        <p:spPr>
          <a:xfrm>
            <a:off x="260430" y="329879"/>
            <a:ext cx="9416969" cy="9510296"/>
          </a:xfrm>
          <a:prstGeom prst="rect">
            <a:avLst/>
          </a:prstGeom>
          <a:noFill/>
        </p:spPr>
        <p:txBody>
          <a:bodyPr wrap="square" rtlCol="0">
            <a:spAutoFit/>
          </a:bodyPr>
          <a:lstStyle/>
          <a:p>
            <a:r>
              <a:rPr lang="en-US" sz="4400" b="1" dirty="0">
                <a:solidFill>
                  <a:srgbClr val="CF3338"/>
                </a:solidFill>
                <a:latin typeface="Pragmatica" panose="020B0403040502020204" pitchFamily="34" charset="0"/>
              </a:rPr>
              <a:t>Demo 1: Copilot basics + Style Guide</a:t>
            </a:r>
          </a:p>
          <a:p>
            <a:endParaRPr lang="en-US" sz="4400" b="1" dirty="0">
              <a:solidFill>
                <a:srgbClr val="CF3338"/>
              </a:solidFill>
              <a:latin typeface="Pragmatica" panose="020B0403040502020204" pitchFamily="34" charset="0"/>
            </a:endParaRPr>
          </a:p>
          <a:p>
            <a:r>
              <a:rPr lang="en-US" sz="4000" b="1" dirty="0">
                <a:solidFill>
                  <a:srgbClr val="CF3338"/>
                </a:solidFill>
              </a:rPr>
              <a:t>Workbook:</a:t>
            </a:r>
            <a:r>
              <a:rPr lang="en-US" sz="4000" dirty="0">
                <a:solidFill>
                  <a:srgbClr val="CF3338"/>
                </a:solidFill>
              </a:rPr>
              <a:t> energydata.xlsx (75 rows)</a:t>
            </a:r>
          </a:p>
          <a:p>
            <a:endParaRPr lang="en-US" sz="4000" dirty="0">
              <a:solidFill>
                <a:srgbClr val="CF3338"/>
              </a:solidFill>
            </a:endParaRPr>
          </a:p>
          <a:p>
            <a:r>
              <a:rPr lang="en-US" sz="4000" b="1" dirty="0">
                <a:solidFill>
                  <a:srgbClr val="CF3338"/>
                </a:solidFill>
              </a:rPr>
              <a:t>Part 1: Baseline</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Formatting, calc columns, Pivot + charts </a:t>
            </a:r>
          </a:p>
          <a:p>
            <a:pPr marL="571500" indent="-571500">
              <a:buFont typeface="Arial" panose="020B0604020202020204" pitchFamily="34" charset="0"/>
              <a:buChar char="•"/>
            </a:pPr>
            <a:r>
              <a:rPr lang="en-US" sz="4000" dirty="0">
                <a:solidFill>
                  <a:srgbClr val="CF3338"/>
                </a:solidFill>
              </a:rPr>
              <a:t>SUMPRODUCT → FILTER/LET </a:t>
            </a:r>
          </a:p>
          <a:p>
            <a:pPr marL="571500" indent="-571500">
              <a:buFont typeface="Arial" panose="020B0604020202020204" pitchFamily="34" charset="0"/>
              <a:buChar char="•"/>
            </a:pPr>
            <a:r>
              <a:rPr lang="en-US" sz="4000" dirty="0">
                <a:solidFill>
                  <a:srgbClr val="CF3338"/>
                </a:solidFill>
              </a:rPr>
              <a:t>Defaults: cell refs, VLOOKUP, messy charts</a:t>
            </a:r>
          </a:p>
          <a:p>
            <a:r>
              <a:rPr lang="en-US" sz="4000" dirty="0">
                <a:solidFill>
                  <a:srgbClr val="CF3338"/>
                </a:solidFill>
              </a:rPr>
              <a:t> </a:t>
            </a:r>
          </a:p>
          <a:p>
            <a:r>
              <a:rPr lang="en-US" sz="4000" b="1" dirty="0">
                <a:solidFill>
                  <a:srgbClr val="CF3338"/>
                </a:solidFill>
              </a:rPr>
              <a:t>Part 2: Style Guide (EITI)</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Apply guide → re-run 4 viz types </a:t>
            </a:r>
          </a:p>
          <a:p>
            <a:pPr marL="571500" indent="-571500">
              <a:buFont typeface="Arial" panose="020B0604020202020204" pitchFamily="34" charset="0"/>
              <a:buChar char="•"/>
            </a:pPr>
            <a:r>
              <a:rPr lang="en-US" sz="4000" dirty="0">
                <a:solidFill>
                  <a:srgbClr val="CF3338"/>
                </a:solidFill>
              </a:rPr>
              <a:t>Charts align to clear goals </a:t>
            </a:r>
          </a:p>
          <a:p>
            <a:endParaRPr lang="en-US" sz="4000" dirty="0">
              <a:solidFill>
                <a:srgbClr val="CF3338"/>
              </a:solidFill>
            </a:endParaRPr>
          </a:p>
          <a:p>
            <a:r>
              <a:rPr lang="en-US" sz="4000" b="1" dirty="0">
                <a:solidFill>
                  <a:srgbClr val="CF3338"/>
                </a:solidFill>
              </a:rPr>
              <a:t>Takeaway:</a:t>
            </a:r>
            <a:r>
              <a:rPr lang="en-US" sz="4000" dirty="0">
                <a:solidFill>
                  <a:srgbClr val="CF3338"/>
                </a:solidFill>
              </a:rPr>
              <a:t> reference doc → better outputs</a:t>
            </a:r>
          </a:p>
          <a:p>
            <a:endParaRPr lang="en-US" sz="4400" b="1" dirty="0">
              <a:solidFill>
                <a:srgbClr val="CF3338"/>
              </a:solidFill>
              <a:latin typeface="Pragmatica" panose="020B04030405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5" name="Picture 4" descr="image.png"/>
          <p:cNvPicPr>
            <a:picLocks noChangeAspect="1"/>
          </p:cNvPicPr>
          <p:nvPr/>
        </p:nvPicPr>
        <p:blipFill>
          <a:blip r:embed="rId3"/>
          <a:stretch>
            <a:fillRect/>
          </a:stretch>
        </p:blipFill>
        <p:spPr>
          <a:xfrm>
            <a:off x="15579524" y="7544693"/>
            <a:ext cx="2708477" cy="2987579"/>
          </a:xfrm>
          <a:prstGeom prst="rect">
            <a:avLst/>
          </a:prstGeom>
        </p:spPr>
      </p:pic>
      <p:sp>
        <p:nvSpPr>
          <p:cNvPr id="3" name="TextBox 2"/>
          <p:cNvSpPr txBox="1"/>
          <p:nvPr/>
        </p:nvSpPr>
        <p:spPr>
          <a:xfrm>
            <a:off x="260430" y="329879"/>
            <a:ext cx="9416969" cy="10248960"/>
          </a:xfrm>
          <a:prstGeom prst="rect">
            <a:avLst/>
          </a:prstGeom>
          <a:noFill/>
        </p:spPr>
        <p:txBody>
          <a:bodyPr wrap="square" rtlCol="0">
            <a:spAutoFit/>
          </a:bodyPr>
          <a:lstStyle/>
          <a:p>
            <a:r>
              <a:rPr lang="en-US" sz="4400" b="1" dirty="0">
                <a:solidFill>
                  <a:srgbClr val="CF3338"/>
                </a:solidFill>
                <a:latin typeface="Pragmatica" panose="020B0403040502020204" pitchFamily="34" charset="0"/>
              </a:rPr>
              <a:t>Demo 2: Copilot vs. Claude</a:t>
            </a:r>
          </a:p>
          <a:p>
            <a:r>
              <a:rPr lang="en-US" sz="4400" i="1" dirty="0">
                <a:solidFill>
                  <a:srgbClr val="CF3338"/>
                </a:solidFill>
                <a:latin typeface="Pragmatica" panose="020B0403040502020204" pitchFamily="34" charset="0"/>
              </a:rPr>
              <a:t>C</a:t>
            </a:r>
            <a:r>
              <a:rPr lang="en-US" sz="4400" i="1" dirty="0">
                <a:solidFill>
                  <a:srgbClr val="CF3338"/>
                </a:solidFill>
              </a:rPr>
              <a:t>ategorize, summarize, flag anomalies </a:t>
            </a:r>
          </a:p>
          <a:p>
            <a:endParaRPr lang="en-US" sz="4400" b="1" dirty="0">
              <a:solidFill>
                <a:srgbClr val="CF3338"/>
              </a:solidFill>
            </a:endParaRPr>
          </a:p>
          <a:p>
            <a:r>
              <a:rPr lang="en-US" sz="4400" b="1" dirty="0">
                <a:solidFill>
                  <a:srgbClr val="CF3338"/>
                </a:solidFill>
              </a:rPr>
              <a:t>Compare: </a:t>
            </a:r>
          </a:p>
          <a:p>
            <a:pPr marL="571500" indent="-571500">
              <a:buFont typeface="Arial" panose="020B0604020202020204" pitchFamily="34" charset="0"/>
              <a:buChar char="•"/>
            </a:pPr>
            <a:r>
              <a:rPr lang="en-US" sz="4400" dirty="0">
                <a:solidFill>
                  <a:srgbClr val="CF3338"/>
                </a:solidFill>
              </a:rPr>
              <a:t>Consistency</a:t>
            </a:r>
          </a:p>
          <a:p>
            <a:pPr marL="571500" indent="-571500">
              <a:buFont typeface="Arial" panose="020B0604020202020204" pitchFamily="34" charset="0"/>
              <a:buChar char="•"/>
            </a:pPr>
            <a:r>
              <a:rPr lang="en-US" sz="4400" dirty="0">
                <a:solidFill>
                  <a:srgbClr val="CF3338"/>
                </a:solidFill>
              </a:rPr>
              <a:t>Where work lives</a:t>
            </a:r>
          </a:p>
          <a:p>
            <a:pPr marL="571500" indent="-571500">
              <a:buFont typeface="Arial" panose="020B0604020202020204" pitchFamily="34" charset="0"/>
              <a:buChar char="•"/>
            </a:pPr>
            <a:r>
              <a:rPr lang="en-US" sz="4400" dirty="0">
                <a:solidFill>
                  <a:srgbClr val="CF3338"/>
                </a:solidFill>
              </a:rPr>
              <a:t>Data security </a:t>
            </a:r>
          </a:p>
          <a:p>
            <a:endParaRPr lang="en-US" sz="4400" dirty="0">
              <a:solidFill>
                <a:srgbClr val="CF3338"/>
              </a:solidFill>
            </a:endParaRPr>
          </a:p>
          <a:p>
            <a:r>
              <a:rPr lang="en-US" sz="4400" b="1" dirty="0">
                <a:solidFill>
                  <a:srgbClr val="CF3338"/>
                </a:solidFill>
              </a:rPr>
              <a:t>Decision</a:t>
            </a:r>
            <a:endParaRPr lang="en-US" sz="4400" dirty="0">
              <a:solidFill>
                <a:srgbClr val="CF3338"/>
              </a:solidFill>
            </a:endParaRPr>
          </a:p>
          <a:p>
            <a:pPr marL="571500" indent="-571500">
              <a:buFont typeface="Arial" panose="020B0604020202020204" pitchFamily="34" charset="0"/>
              <a:buChar char="•"/>
            </a:pPr>
            <a:r>
              <a:rPr lang="en-US" sz="4400" dirty="0">
                <a:solidFill>
                  <a:srgbClr val="CF3338"/>
                </a:solidFill>
              </a:rPr>
              <a:t>Copilot: in-Excel + sensitive </a:t>
            </a:r>
          </a:p>
          <a:p>
            <a:pPr marL="571500" indent="-571500">
              <a:buFont typeface="Arial" panose="020B0604020202020204" pitchFamily="34" charset="0"/>
              <a:buChar char="•"/>
            </a:pPr>
            <a:r>
              <a:rPr lang="en-US" sz="4400" dirty="0">
                <a:solidFill>
                  <a:srgbClr val="CF3338"/>
                </a:solidFill>
              </a:rPr>
              <a:t>Claude: deliverables </a:t>
            </a:r>
          </a:p>
          <a:p>
            <a:endParaRPr lang="en-US" sz="4400" dirty="0">
              <a:solidFill>
                <a:srgbClr val="CF3338"/>
              </a:solidFill>
            </a:endParaRPr>
          </a:p>
          <a:p>
            <a:r>
              <a:rPr lang="en-US" sz="4400" b="1" dirty="0">
                <a:solidFill>
                  <a:srgbClr val="CF3338"/>
                </a:solidFill>
              </a:rPr>
              <a:t>Takeaway:</a:t>
            </a:r>
            <a:r>
              <a:rPr lang="en-US" sz="4400" dirty="0">
                <a:solidFill>
                  <a:srgbClr val="CF3338"/>
                </a:solidFill>
              </a:rPr>
              <a:t> use both wisely</a:t>
            </a:r>
          </a:p>
          <a:p>
            <a:r>
              <a:rPr lang="en-US" sz="4400" dirty="0">
                <a:solidFill>
                  <a:srgbClr val="CF3338"/>
                </a:solidFill>
              </a:rPr>
              <a:t>Folder: 2-claude-vs-copilot</a:t>
            </a:r>
          </a:p>
          <a:p>
            <a:endParaRPr lang="en-US" sz="4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5" name="Picture 4" descr="image.png"/>
          <p:cNvPicPr>
            <a:picLocks noChangeAspect="1"/>
          </p:cNvPicPr>
          <p:nvPr/>
        </p:nvPicPr>
        <p:blipFill>
          <a:blip r:embed="rId3"/>
          <a:stretch>
            <a:fillRect/>
          </a:stretch>
        </p:blipFill>
        <p:spPr>
          <a:xfrm>
            <a:off x="15579524" y="7544693"/>
            <a:ext cx="2708477" cy="2987579"/>
          </a:xfrm>
          <a:prstGeom prst="rect">
            <a:avLst/>
          </a:prstGeom>
        </p:spPr>
      </p:pic>
      <p:sp>
        <p:nvSpPr>
          <p:cNvPr id="3" name="TextBox 2"/>
          <p:cNvSpPr txBox="1"/>
          <p:nvPr/>
        </p:nvSpPr>
        <p:spPr>
          <a:xfrm>
            <a:off x="260430" y="329879"/>
            <a:ext cx="9416969" cy="8217634"/>
          </a:xfrm>
          <a:prstGeom prst="rect">
            <a:avLst/>
          </a:prstGeom>
          <a:noFill/>
        </p:spPr>
        <p:txBody>
          <a:bodyPr wrap="square" rtlCol="0">
            <a:spAutoFit/>
          </a:bodyPr>
          <a:lstStyle/>
          <a:p>
            <a:r>
              <a:rPr lang="en-US" sz="4400" b="1" dirty="0">
                <a:solidFill>
                  <a:srgbClr val="CF3338"/>
                </a:solidFill>
                <a:latin typeface="Pragmatica" panose="020B0403040502020204" pitchFamily="34" charset="0"/>
              </a:rPr>
              <a:t>Demo 3: Audit and Change Log</a:t>
            </a:r>
          </a:p>
          <a:p>
            <a:endParaRPr lang="en-US" sz="4400" b="1" dirty="0">
              <a:solidFill>
                <a:srgbClr val="CF3338"/>
              </a:solidFill>
              <a:latin typeface="Pragmatica" panose="020B0403040502020204" pitchFamily="34" charset="0"/>
            </a:endParaRPr>
          </a:p>
          <a:p>
            <a:r>
              <a:rPr lang="en-US" sz="4000" b="1" dirty="0">
                <a:solidFill>
                  <a:srgbClr val="CF3338"/>
                </a:solidFill>
              </a:rPr>
              <a:t>Problem → Fix</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Copilot forgets → no audit trail </a:t>
            </a:r>
          </a:p>
          <a:p>
            <a:pPr marL="571500" indent="-571500">
              <a:buFont typeface="Arial" panose="020B0604020202020204" pitchFamily="34" charset="0"/>
              <a:buChar char="•"/>
            </a:pPr>
            <a:r>
              <a:rPr lang="en-US" sz="4000" dirty="0">
                <a:solidFill>
                  <a:srgbClr val="CF3338"/>
                </a:solidFill>
              </a:rPr>
              <a:t>Solution: log work in-file </a:t>
            </a:r>
          </a:p>
          <a:p>
            <a:r>
              <a:rPr lang="en-US" sz="4000" b="1" dirty="0">
                <a:solidFill>
                  <a:srgbClr val="CF3338"/>
                </a:solidFill>
              </a:rPr>
              <a:t>3 prompts</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Setup log (once) </a:t>
            </a:r>
          </a:p>
          <a:p>
            <a:pPr marL="571500" indent="-571500">
              <a:buFont typeface="Arial" panose="020B0604020202020204" pitchFamily="34" charset="0"/>
              <a:buChar char="•"/>
            </a:pPr>
            <a:r>
              <a:rPr lang="en-US" sz="4000" dirty="0">
                <a:solidFill>
                  <a:srgbClr val="CF3338"/>
                </a:solidFill>
              </a:rPr>
              <a:t>Do task + log it </a:t>
            </a:r>
          </a:p>
          <a:p>
            <a:pPr marL="571500" indent="-571500">
              <a:buFont typeface="Arial" panose="020B0604020202020204" pitchFamily="34" charset="0"/>
              <a:buChar char="•"/>
            </a:pPr>
            <a:r>
              <a:rPr lang="en-US" sz="4000" dirty="0">
                <a:solidFill>
                  <a:srgbClr val="CF3338"/>
                </a:solidFill>
              </a:rPr>
              <a:t>Reopen: read log + resume </a:t>
            </a:r>
          </a:p>
          <a:p>
            <a:r>
              <a:rPr lang="en-US" sz="4000" b="1" dirty="0">
                <a:solidFill>
                  <a:srgbClr val="CF3338"/>
                </a:solidFill>
              </a:rPr>
              <a:t>Demo</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Add Profit + Margin → close → reopen </a:t>
            </a:r>
          </a:p>
          <a:p>
            <a:r>
              <a:rPr lang="en-US" sz="4000" b="1" dirty="0">
                <a:solidFill>
                  <a:srgbClr val="CF3338"/>
                </a:solidFill>
              </a:rPr>
              <a:t>Takeaway</a:t>
            </a:r>
            <a:endParaRPr lang="en-US" sz="4000" dirty="0">
              <a:solidFill>
                <a:srgbClr val="CF3338"/>
              </a:solidFill>
            </a:endParaRPr>
          </a:p>
          <a:p>
            <a:pPr marL="571500" indent="-571500">
              <a:buFont typeface="Arial" panose="020B0604020202020204" pitchFamily="34" charset="0"/>
              <a:buChar char="•"/>
            </a:pPr>
            <a:r>
              <a:rPr lang="en-US" sz="4000" dirty="0">
                <a:solidFill>
                  <a:srgbClr val="CF3338"/>
                </a:solidFill>
              </a:rPr>
              <a:t>In-file log = persistent, reviewable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757130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in Excel is only one layer of the workflow</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You still need to get data in, secure it, and move it across systems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connects Excel logic to real business processes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Dataverse keeps everything consistent so AI can trust your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These tools together make AI reliable, scalable, and production ready</a:t>
            </a:r>
          </a:p>
        </p:txBody>
      </p:sp>
      <p:pic>
        <p:nvPicPr>
          <p:cNvPr id="15" name="Picture 14" descr="A close up of a sign  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Day 4 preview: Turning analysis into action</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674030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Office Scripts automate the clicks and steps you already take in Excel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Automate turns those scripts into real workflows that run on their own</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Flows push data and results to Teams, Outlook, SharePoint and more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Together they form the execution layer that carries your work beyond the workbook</a:t>
            </a:r>
          </a:p>
        </p:txBody>
      </p:sp>
      <p:pic>
        <p:nvPicPr>
          <p:cNvPr id="15" name="Picture 14" descr="A close up of a sign  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3910</TotalTime>
  <Words>1355</Words>
  <Application>Microsoft Office PowerPoint</Application>
  <PresentationFormat>Custom</PresentationFormat>
  <Paragraphs>84</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Aliens &amp; cows</vt:lpstr>
      <vt:lpstr>Calibri</vt:lpstr>
      <vt:lpstr>Pragmatica</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240</cp:revision>
  <dcterms:created xsi:type="dcterms:W3CDTF">2006-08-16T00:00:00Z</dcterms:created>
  <dcterms:modified xsi:type="dcterms:W3CDTF">2026-04-16T16:33:22Z</dcterms:modified>
  <dc:identifier>DADurESpNu8</dc:identifier>
</cp:coreProperties>
</file>